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energy. This is the plan to grow SafePoint with marketing — built on a proven system, run by our whole team, aimed at one number. Today I'll show you the opportunity, why this works, and exactly what each of us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stakes. Our ideal client — the office manager at a small practice — is under pressure to modernize and scared of getting it wrong. Whoever earns her trust first wins a sticky, multi-year relationship. We are perfectly positioned to be that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credibility slide — address the skepticism head on. Everything we're about to do is based on documented, proven frameworks used by the biggest names in marketing. We've already written the SOPs and cited the sources. We're not experimenting; we're executing a known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we're asking everyone to rally around. We don't measure busywork — we measure booked assessments. Start small and prove it, then ramp. Frame the lifetime value: each booked assessment can become a multi-year managed-services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This is the customer's journey and the logic of the whole plan. Each stage has owners and assets behind it, which the next slides break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pillars are the proven structure. The next slide shows that each pillar has a clear owner on our team — this is how it becomes a team effort, not a solo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'one team' message. Everyone has a clear lane. No part wins alone — the system wins when every part runs. Name each person and their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momentum so leadership sees this isn't theoretical. We've already built the hard assets and the playbooks. What's left is mostly turning it on —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gap — it builds credibility. The Story pillar is our weakest today. The fix is naming Alek as the face and giving him a simple, repeatable story cadence. There's a full how-to playbook in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to-do list, already assigned. Everyone leaves this meeting knowing their part. Most of these are 'turn it on' tasks, not 'invent it'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leadership a realistic timeline. Build in month one, turn it on in month two, ramp to the goal in month three. Keep expectations grounded — this compounds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leadership this won't drift. There's a weekly rhythm, one owner for the numbers, and a single question that keeps us honest. Marketing becomes measurable and accountable.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Reframe the budget: we're not asking for new money. We already spend on marketing tools and team time — it's just been scattered and unmeasured. This plan redirects that same spend into one measurable engine. Then we automate — first marketing, then everything we can — so cost per lead and per client drops over time. Net: same or lower spend, far better return. Offer to plug in our real current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clear ask: approval + the team's time to run the 90-day plan. Restate the one cause.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822960" y="1554480"/>
            <a:ext cx="10058400" cy="365760"/>
          </a:xfrm>
          <a:prstGeom prst="rect">
            <a:avLst/>
          </a:prstGeom>
          <a:noFill/>
          <a:ln/>
        </p:spPr>
        <p:txBody>
          <a:bodyPr wrap="square" rtlCol="0" anchor="ctr"/>
          <a:lstStyle/>
          <a:p>
            <a:pPr indent="0" marL="0">
              <a:buNone/>
            </a:pPr>
            <a:r>
              <a:rPr lang="en-US" sz="1400" b="1" spc="400" kern="0" dirty="0">
                <a:solidFill>
                  <a:srgbClr val="02C39A"/>
                </a:solidFill>
                <a:latin typeface="Calibri" pitchFamily="34" charset="0"/>
                <a:ea typeface="Calibri" pitchFamily="34" charset="-122"/>
                <a:cs typeface="Calibri" pitchFamily="34" charset="-120"/>
              </a:rPr>
              <a:t>SAFEPOINT IT</a:t>
            </a:r>
            <a:endParaRPr lang="en-US" sz="1400" dirty="0"/>
          </a:p>
        </p:txBody>
      </p:sp>
      <p:sp>
        <p:nvSpPr>
          <p:cNvPr id="4" name="Text 2"/>
          <p:cNvSpPr/>
          <p:nvPr/>
        </p:nvSpPr>
        <p:spPr>
          <a:xfrm>
            <a:off x="822960" y="2011680"/>
            <a:ext cx="10515600" cy="1005840"/>
          </a:xfrm>
          <a:prstGeom prst="rect">
            <a:avLst/>
          </a:prstGeom>
          <a:noFill/>
          <a:ln/>
        </p:spPr>
        <p:txBody>
          <a:bodyPr wrap="square" rtlCol="0" anchor="ctr"/>
          <a:lstStyle/>
          <a:p>
            <a:pPr indent="0" marL="0">
              <a:buNone/>
            </a:pPr>
            <a:r>
              <a:rPr lang="en-US" sz="4800" b="1" dirty="0">
                <a:solidFill>
                  <a:srgbClr val="FFFFFF"/>
                </a:solidFill>
                <a:latin typeface="Georgia" pitchFamily="34" charset="0"/>
                <a:ea typeface="Georgia" pitchFamily="34" charset="-122"/>
                <a:cs typeface="Georgia" pitchFamily="34" charset="-120"/>
              </a:rPr>
              <a:t>Marketing Action Plan</a:t>
            </a:r>
            <a:endParaRPr lang="en-US" sz="4800" dirty="0"/>
          </a:p>
        </p:txBody>
      </p:sp>
      <p:sp>
        <p:nvSpPr>
          <p:cNvPr id="5" name="Text 3"/>
          <p:cNvSpPr/>
          <p:nvPr/>
        </p:nvSpPr>
        <p:spPr>
          <a:xfrm>
            <a:off x="841248" y="3200400"/>
            <a:ext cx="10058400" cy="731520"/>
          </a:xfrm>
          <a:prstGeom prst="rect">
            <a:avLst/>
          </a:prstGeom>
          <a:noFill/>
          <a:ln/>
        </p:spPr>
        <p:txBody>
          <a:bodyPr wrap="square" rtlCol="0" anchor="ctr"/>
          <a:lstStyle/>
          <a:p>
            <a:pPr indent="0" marL="0">
              <a:buNone/>
            </a:pPr>
            <a:r>
              <a:rPr lang="en-US" sz="2000" dirty="0">
                <a:solidFill>
                  <a:srgbClr val="CADCFC"/>
                </a:solidFill>
                <a:latin typeface="Calibri" pitchFamily="34" charset="0"/>
                <a:ea typeface="Calibri" pitchFamily="34" charset="-122"/>
                <a:cs typeface="Calibri" pitchFamily="34" charset="-120"/>
              </a:rPr>
              <a:t>One team, one engine — turning a proven system into booked assessments and new clients.</a:t>
            </a:r>
            <a:endParaRPr lang="en-US" sz="2000" dirty="0"/>
          </a:p>
        </p:txBody>
      </p:sp>
      <p:sp>
        <p:nvSpPr>
          <p:cNvPr id="6" name="Text 4"/>
          <p:cNvSpPr/>
          <p:nvPr/>
        </p:nvSpPr>
        <p:spPr>
          <a:xfrm>
            <a:off x="841248" y="4389120"/>
            <a:ext cx="10058400" cy="365760"/>
          </a:xfrm>
          <a:prstGeom prst="rect">
            <a:avLst/>
          </a:prstGeom>
          <a:noFill/>
          <a:ln/>
        </p:spPr>
        <p:txBody>
          <a:bodyPr wrap="square" rtlCol="0" anchor="ctr"/>
          <a:lstStyle/>
          <a:p>
            <a:pPr indent="0" marL="0">
              <a:buNone/>
            </a:pPr>
            <a:r>
              <a:rPr lang="en-US" sz="1500" dirty="0">
                <a:solidFill>
                  <a:srgbClr val="9FB3D9"/>
                </a:solidFill>
                <a:latin typeface="Calibri" pitchFamily="34" charset="0"/>
                <a:ea typeface="Calibri" pitchFamily="34" charset="-122"/>
                <a:cs typeface="Calibri" pitchFamily="34" charset="-120"/>
              </a:rPr>
              <a:t>Presented by Elena  ·  Marketing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THE OPPORTUNITY</a:t>
            </a:r>
            <a:endParaRPr lang="en-US" sz="1300" dirty="0"/>
          </a:p>
        </p:txBody>
      </p:sp>
      <p:sp>
        <p:nvSpPr>
          <p:cNvPr id="3" name="Text 1"/>
          <p:cNvSpPr/>
          <p:nvPr/>
        </p:nvSpPr>
        <p:spPr>
          <a:xfrm>
            <a:off x="640080" y="914400"/>
            <a:ext cx="10881360" cy="11887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Every practice around us is adopting AI — most are doing it blind.</a:t>
            </a:r>
            <a:endParaRPr lang="en-US" sz="3000" dirty="0"/>
          </a:p>
        </p:txBody>
      </p:sp>
      <p:sp>
        <p:nvSpPr>
          <p:cNvPr id="4" name="Shape 2"/>
          <p:cNvSpPr/>
          <p:nvPr/>
        </p:nvSpPr>
        <p:spPr>
          <a:xfrm>
            <a:off x="640080" y="2377440"/>
            <a:ext cx="3429000" cy="219456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5" name="Shape 3"/>
          <p:cNvSpPr/>
          <p:nvPr/>
        </p:nvSpPr>
        <p:spPr>
          <a:xfrm>
            <a:off x="640080" y="2377440"/>
            <a:ext cx="3429000" cy="109728"/>
          </a:xfrm>
          <a:prstGeom prst="rect">
            <a:avLst/>
          </a:prstGeom>
          <a:solidFill>
            <a:srgbClr val="028090"/>
          </a:solidFill>
          <a:ln/>
        </p:spPr>
      </p:sp>
      <p:sp>
        <p:nvSpPr>
          <p:cNvPr id="6" name="Text 4"/>
          <p:cNvSpPr/>
          <p:nvPr/>
        </p:nvSpPr>
        <p:spPr>
          <a:xfrm>
            <a:off x="914400" y="2697480"/>
            <a:ext cx="2926080" cy="640080"/>
          </a:xfrm>
          <a:prstGeom prst="rect">
            <a:avLst/>
          </a:prstGeom>
          <a:noFill/>
          <a:ln/>
        </p:spPr>
        <p:txBody>
          <a:bodyPr wrap="square" rtlCol="0" anchor="ctr"/>
          <a:lstStyle/>
          <a:p>
            <a:pPr indent="0" marL="0">
              <a:buNone/>
            </a:pPr>
            <a:r>
              <a:rPr lang="en-US" sz="1900" b="1" dirty="0">
                <a:solidFill>
                  <a:srgbClr val="1E2761"/>
                </a:solidFill>
                <a:latin typeface="Georgia" pitchFamily="34" charset="0"/>
                <a:ea typeface="Georgia" pitchFamily="34" charset="-122"/>
                <a:cs typeface="Georgia" pitchFamily="34" charset="-120"/>
              </a:rPr>
              <a:t>Nervous about a breach</a:t>
            </a:r>
            <a:endParaRPr lang="en-US" sz="1900" dirty="0"/>
          </a:p>
        </p:txBody>
      </p:sp>
      <p:sp>
        <p:nvSpPr>
          <p:cNvPr id="7" name="Text 5"/>
          <p:cNvSpPr/>
          <p:nvPr/>
        </p:nvSpPr>
        <p:spPr>
          <a:xfrm>
            <a:off x="914400" y="3383280"/>
            <a:ext cx="2926080" cy="100584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…and unsure what's actually safe to use.</a:t>
            </a:r>
            <a:endParaRPr lang="en-US" sz="1450" dirty="0"/>
          </a:p>
        </p:txBody>
      </p:sp>
      <p:sp>
        <p:nvSpPr>
          <p:cNvPr id="8" name="Shape 6"/>
          <p:cNvSpPr/>
          <p:nvPr/>
        </p:nvSpPr>
        <p:spPr>
          <a:xfrm>
            <a:off x="4343400" y="2377440"/>
            <a:ext cx="3429000" cy="219456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9" name="Shape 7"/>
          <p:cNvSpPr/>
          <p:nvPr/>
        </p:nvSpPr>
        <p:spPr>
          <a:xfrm>
            <a:off x="4343400" y="2377440"/>
            <a:ext cx="3429000" cy="109728"/>
          </a:xfrm>
          <a:prstGeom prst="rect">
            <a:avLst/>
          </a:prstGeom>
          <a:solidFill>
            <a:srgbClr val="028090"/>
          </a:solidFill>
          <a:ln/>
        </p:spPr>
      </p:sp>
      <p:sp>
        <p:nvSpPr>
          <p:cNvPr id="10" name="Text 8"/>
          <p:cNvSpPr/>
          <p:nvPr/>
        </p:nvSpPr>
        <p:spPr>
          <a:xfrm>
            <a:off x="4617720" y="2697480"/>
            <a:ext cx="2926080" cy="640080"/>
          </a:xfrm>
          <a:prstGeom prst="rect">
            <a:avLst/>
          </a:prstGeom>
          <a:noFill/>
          <a:ln/>
        </p:spPr>
        <p:txBody>
          <a:bodyPr wrap="square" rtlCol="0" anchor="ctr"/>
          <a:lstStyle/>
          <a:p>
            <a:pPr indent="0" marL="0">
              <a:buNone/>
            </a:pPr>
            <a:r>
              <a:rPr lang="en-US" sz="1900" b="1" dirty="0">
                <a:solidFill>
                  <a:srgbClr val="1E2761"/>
                </a:solidFill>
                <a:latin typeface="Georgia" pitchFamily="34" charset="0"/>
                <a:ea typeface="Georgia" pitchFamily="34" charset="-122"/>
                <a:cs typeface="Georgia" pitchFamily="34" charset="-120"/>
              </a:rPr>
              <a:t>Stuck with slow IT</a:t>
            </a:r>
            <a:endParaRPr lang="en-US" sz="1900" dirty="0"/>
          </a:p>
        </p:txBody>
      </p:sp>
      <p:sp>
        <p:nvSpPr>
          <p:cNvPr id="11" name="Text 9"/>
          <p:cNvSpPr/>
          <p:nvPr/>
        </p:nvSpPr>
        <p:spPr>
          <a:xfrm>
            <a:off x="4617720" y="3383280"/>
            <a:ext cx="2926080" cy="100584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A provider that doesn't pick up the phone.</a:t>
            </a:r>
            <a:endParaRPr lang="en-US" sz="1450" dirty="0"/>
          </a:p>
        </p:txBody>
      </p:sp>
      <p:sp>
        <p:nvSpPr>
          <p:cNvPr id="12" name="Shape 10"/>
          <p:cNvSpPr/>
          <p:nvPr/>
        </p:nvSpPr>
        <p:spPr>
          <a:xfrm>
            <a:off x="8046720" y="2377440"/>
            <a:ext cx="3429000" cy="219456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3" name="Shape 11"/>
          <p:cNvSpPr/>
          <p:nvPr/>
        </p:nvSpPr>
        <p:spPr>
          <a:xfrm>
            <a:off x="8046720" y="2377440"/>
            <a:ext cx="3429000" cy="109728"/>
          </a:xfrm>
          <a:prstGeom prst="rect">
            <a:avLst/>
          </a:prstGeom>
          <a:solidFill>
            <a:srgbClr val="028090"/>
          </a:solidFill>
          <a:ln/>
        </p:spPr>
      </p:sp>
      <p:sp>
        <p:nvSpPr>
          <p:cNvPr id="14" name="Text 12"/>
          <p:cNvSpPr/>
          <p:nvPr/>
        </p:nvSpPr>
        <p:spPr>
          <a:xfrm>
            <a:off x="8321040" y="2697480"/>
            <a:ext cx="2926080" cy="640080"/>
          </a:xfrm>
          <a:prstGeom prst="rect">
            <a:avLst/>
          </a:prstGeom>
          <a:noFill/>
          <a:ln/>
        </p:spPr>
        <p:txBody>
          <a:bodyPr wrap="square" rtlCol="0" anchor="ctr"/>
          <a:lstStyle/>
          <a:p>
            <a:pPr indent="0" marL="0">
              <a:buNone/>
            </a:pPr>
            <a:r>
              <a:rPr lang="en-US" sz="1900" b="1" dirty="0">
                <a:solidFill>
                  <a:srgbClr val="1E2761"/>
                </a:solidFill>
                <a:latin typeface="Georgia" pitchFamily="34" charset="0"/>
                <a:ea typeface="Georgia" pitchFamily="34" charset="-122"/>
                <a:cs typeface="Georgia" pitchFamily="34" charset="-120"/>
              </a:rPr>
              <a:t>No trusted guide</a:t>
            </a:r>
            <a:endParaRPr lang="en-US" sz="1900" dirty="0"/>
          </a:p>
        </p:txBody>
      </p:sp>
      <p:sp>
        <p:nvSpPr>
          <p:cNvPr id="15" name="Text 13"/>
          <p:cNvSpPr/>
          <p:nvPr/>
        </p:nvSpPr>
        <p:spPr>
          <a:xfrm>
            <a:off x="8321040" y="3383280"/>
            <a:ext cx="2926080" cy="100584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They don't need another vendor — they need us.</a:t>
            </a:r>
            <a:endParaRPr lang="en-US" sz="1450" dirty="0"/>
          </a:p>
        </p:txBody>
      </p:sp>
      <p:sp>
        <p:nvSpPr>
          <p:cNvPr id="16" name="Text 14"/>
          <p:cNvSpPr/>
          <p:nvPr/>
        </p:nvSpPr>
        <p:spPr>
          <a:xfrm>
            <a:off x="640080" y="5029200"/>
            <a:ext cx="10881360" cy="548640"/>
          </a:xfrm>
          <a:prstGeom prst="rect">
            <a:avLst/>
          </a:prstGeom>
          <a:noFill/>
          <a:ln/>
        </p:spPr>
        <p:txBody>
          <a:bodyPr wrap="square" rtlCol="0" anchor="ctr"/>
          <a:lstStyle/>
          <a:p>
            <a:pPr indent="0" marL="0">
              <a:buNone/>
            </a:pPr>
            <a:r>
              <a:rPr lang="en-US" sz="1700" b="1" i="1" dirty="0">
                <a:solidFill>
                  <a:srgbClr val="028090"/>
                </a:solidFill>
                <a:latin typeface="Calibri" pitchFamily="34" charset="0"/>
                <a:ea typeface="Calibri" pitchFamily="34" charset="-122"/>
                <a:cs typeface="Calibri" pitchFamily="34" charset="-120"/>
              </a:rPr>
              <a:t>The practices that trust SafePoint first tend to stay for years. This is our window.</a:t>
            </a:r>
            <a:endParaRPr lang="en-US" sz="1700" dirty="0"/>
          </a:p>
        </p:txBody>
      </p:sp>
      <p:sp>
        <p:nvSpPr>
          <p:cNvPr id="17" name="Text 15"/>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18" name="Text 16"/>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WHY THIS WORKS</a:t>
            </a:r>
            <a:endParaRPr lang="en-US" sz="1300" dirty="0"/>
          </a:p>
        </p:txBody>
      </p:sp>
      <p:sp>
        <p:nvSpPr>
          <p:cNvPr id="3" name="Text 1"/>
          <p:cNvSpPr/>
          <p:nvPr/>
        </p:nvSpPr>
        <p:spPr>
          <a:xfrm>
            <a:off x="640080" y="1005840"/>
            <a:ext cx="10881360" cy="118872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This is a proven system — not a get-rich-quick scheme.</a:t>
            </a:r>
            <a:endParaRPr lang="en-US" sz="3000" dirty="0"/>
          </a:p>
        </p:txBody>
      </p:sp>
      <p:sp>
        <p:nvSpPr>
          <p:cNvPr id="4" name="Text 2"/>
          <p:cNvSpPr/>
          <p:nvPr/>
        </p:nvSpPr>
        <p:spPr>
          <a:xfrm>
            <a:off x="640080" y="2286000"/>
            <a:ext cx="10881360" cy="822960"/>
          </a:xfrm>
          <a:prstGeom prst="rect">
            <a:avLst/>
          </a:prstGeom>
          <a:noFill/>
          <a:ln/>
        </p:spPr>
        <p:txBody>
          <a:bodyPr wrap="square" rtlCol="0" anchor="ctr"/>
          <a:lstStyle/>
          <a:p>
            <a:pPr indent="0" marL="0">
              <a:buNone/>
            </a:pPr>
            <a:r>
              <a:rPr lang="en-US" sz="1700" dirty="0">
                <a:solidFill>
                  <a:srgbClr val="CADCFC"/>
                </a:solidFill>
                <a:latin typeface="Calibri" pitchFamily="34" charset="0"/>
                <a:ea typeface="Calibri" pitchFamily="34" charset="-122"/>
                <a:cs typeface="Calibri" pitchFamily="34" charset="-120"/>
              </a:rPr>
              <a:t>We're not gambling on a clever idea. We're running the same playbook the most successful companies use to grow — and pointing it at our market.</a:t>
            </a:r>
            <a:endParaRPr lang="en-US" sz="1700" dirty="0"/>
          </a:p>
        </p:txBody>
      </p:sp>
      <p:sp>
        <p:nvSpPr>
          <p:cNvPr id="5" name="Shape 3"/>
          <p:cNvSpPr/>
          <p:nvPr/>
        </p:nvSpPr>
        <p:spPr>
          <a:xfrm>
            <a:off x="640080" y="3383280"/>
            <a:ext cx="3429000" cy="2103120"/>
          </a:xfrm>
          <a:prstGeom prst="rect">
            <a:avLst/>
          </a:prstGeom>
          <a:solidFill>
            <a:srgbClr val="172050"/>
          </a:solidFill>
          <a:ln w="12700">
            <a:solidFill>
              <a:srgbClr val="02C39A"/>
            </a:solidFill>
            <a:prstDash val="solid"/>
          </a:ln>
          <a:effectLst>
            <a:outerShdw sx="100000" sy="100000" kx="0" ky="0" algn="bl" rotWithShape="0" blurRad="88900" dist="38100" dir="8100000">
              <a:srgbClr val="000000">
                <a:alpha val="12000"/>
              </a:srgbClr>
            </a:outerShdw>
          </a:effectLst>
        </p:spPr>
      </p:sp>
      <p:sp>
        <p:nvSpPr>
          <p:cNvPr id="6" name="Text 4"/>
          <p:cNvSpPr/>
          <p:nvPr/>
        </p:nvSpPr>
        <p:spPr>
          <a:xfrm>
            <a:off x="914400" y="3657600"/>
            <a:ext cx="2926080" cy="822960"/>
          </a:xfrm>
          <a:prstGeom prst="rect">
            <a:avLst/>
          </a:prstGeom>
          <a:noFill/>
          <a:ln/>
        </p:spPr>
        <p:txBody>
          <a:bodyPr wrap="square" rtlCol="0" anchor="ctr"/>
          <a:lstStyle/>
          <a:p>
            <a:pPr indent="0" marL="0">
              <a:buNone/>
            </a:pPr>
            <a:r>
              <a:rPr lang="en-US" sz="1700" b="1" dirty="0">
                <a:solidFill>
                  <a:srgbClr val="02C39A"/>
                </a:solidFill>
                <a:latin typeface="Georgia" pitchFamily="34" charset="0"/>
                <a:ea typeface="Georgia" pitchFamily="34" charset="-122"/>
                <a:cs typeface="Georgia" pitchFamily="34" charset="-120"/>
              </a:rPr>
              <a:t>Russell Brunson's funnel system</a:t>
            </a:r>
            <a:endParaRPr lang="en-US" sz="1700" dirty="0"/>
          </a:p>
        </p:txBody>
      </p:sp>
      <p:sp>
        <p:nvSpPr>
          <p:cNvPr id="7" name="Text 5"/>
          <p:cNvSpPr/>
          <p:nvPr/>
        </p:nvSpPr>
        <p:spPr>
          <a:xfrm>
            <a:off x="914400" y="4480560"/>
            <a:ext cx="292608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The framework behind many $100M+ businesses.</a:t>
            </a:r>
            <a:endParaRPr lang="en-US" sz="1400" dirty="0"/>
          </a:p>
        </p:txBody>
      </p:sp>
      <p:sp>
        <p:nvSpPr>
          <p:cNvPr id="8" name="Shape 6"/>
          <p:cNvSpPr/>
          <p:nvPr/>
        </p:nvSpPr>
        <p:spPr>
          <a:xfrm>
            <a:off x="4343400" y="3383280"/>
            <a:ext cx="3429000" cy="2103120"/>
          </a:xfrm>
          <a:prstGeom prst="rect">
            <a:avLst/>
          </a:prstGeom>
          <a:solidFill>
            <a:srgbClr val="172050"/>
          </a:solidFill>
          <a:ln w="12700">
            <a:solidFill>
              <a:srgbClr val="02C39A"/>
            </a:solidFill>
            <a:prstDash val="solid"/>
          </a:ln>
          <a:effectLst>
            <a:outerShdw sx="100000" sy="100000" kx="0" ky="0" algn="bl" rotWithShape="0" blurRad="88900" dist="38100" dir="8100000">
              <a:srgbClr val="000000">
                <a:alpha val="12000"/>
              </a:srgbClr>
            </a:outerShdw>
          </a:effectLst>
        </p:spPr>
      </p:sp>
      <p:sp>
        <p:nvSpPr>
          <p:cNvPr id="9" name="Text 7"/>
          <p:cNvSpPr/>
          <p:nvPr/>
        </p:nvSpPr>
        <p:spPr>
          <a:xfrm>
            <a:off x="4617720" y="3657600"/>
            <a:ext cx="2926080" cy="822960"/>
          </a:xfrm>
          <a:prstGeom prst="rect">
            <a:avLst/>
          </a:prstGeom>
          <a:noFill/>
          <a:ln/>
        </p:spPr>
        <p:txBody>
          <a:bodyPr wrap="square" rtlCol="0" anchor="ctr"/>
          <a:lstStyle/>
          <a:p>
            <a:pPr indent="0" marL="0">
              <a:buNone/>
            </a:pPr>
            <a:r>
              <a:rPr lang="en-US" sz="1700" b="1" dirty="0">
                <a:solidFill>
                  <a:srgbClr val="02C39A"/>
                </a:solidFill>
                <a:latin typeface="Georgia" pitchFamily="34" charset="0"/>
                <a:ea typeface="Georgia" pitchFamily="34" charset="-122"/>
                <a:cs typeface="Georgia" pitchFamily="34" charset="-120"/>
              </a:rPr>
              <a:t>The most-cited experts</a:t>
            </a:r>
            <a:endParaRPr lang="en-US" sz="1700" dirty="0"/>
          </a:p>
        </p:txBody>
      </p:sp>
      <p:sp>
        <p:nvSpPr>
          <p:cNvPr id="10" name="Text 8"/>
          <p:cNvSpPr/>
          <p:nvPr/>
        </p:nvSpPr>
        <p:spPr>
          <a:xfrm>
            <a:off x="4617720" y="4480560"/>
            <a:ext cx="292608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Webinars, copywriting, SEO, and outbound — the best in each.</a:t>
            </a:r>
            <a:endParaRPr lang="en-US" sz="1400" dirty="0"/>
          </a:p>
        </p:txBody>
      </p:sp>
      <p:sp>
        <p:nvSpPr>
          <p:cNvPr id="11" name="Shape 9"/>
          <p:cNvSpPr/>
          <p:nvPr/>
        </p:nvSpPr>
        <p:spPr>
          <a:xfrm>
            <a:off x="8046720" y="3383280"/>
            <a:ext cx="3429000" cy="2103120"/>
          </a:xfrm>
          <a:prstGeom prst="rect">
            <a:avLst/>
          </a:prstGeom>
          <a:solidFill>
            <a:srgbClr val="172050"/>
          </a:solidFill>
          <a:ln w="12700">
            <a:solidFill>
              <a:srgbClr val="02C39A"/>
            </a:solidFill>
            <a:prstDash val="solid"/>
          </a:ln>
          <a:effectLst>
            <a:outerShdw sx="100000" sy="100000" kx="0" ky="0" algn="bl" rotWithShape="0" blurRad="88900" dist="38100" dir="8100000">
              <a:srgbClr val="000000">
                <a:alpha val="12000"/>
              </a:srgbClr>
            </a:outerShdw>
          </a:effectLst>
        </p:spPr>
      </p:sp>
      <p:sp>
        <p:nvSpPr>
          <p:cNvPr id="12" name="Text 10"/>
          <p:cNvSpPr/>
          <p:nvPr/>
        </p:nvSpPr>
        <p:spPr>
          <a:xfrm>
            <a:off x="8321040" y="3657600"/>
            <a:ext cx="2926080" cy="822960"/>
          </a:xfrm>
          <a:prstGeom prst="rect">
            <a:avLst/>
          </a:prstGeom>
          <a:noFill/>
          <a:ln/>
        </p:spPr>
        <p:txBody>
          <a:bodyPr wrap="square" rtlCol="0" anchor="ctr"/>
          <a:lstStyle/>
          <a:p>
            <a:pPr indent="0" marL="0">
              <a:buNone/>
            </a:pPr>
            <a:r>
              <a:rPr lang="en-US" sz="1700" b="1" dirty="0">
                <a:solidFill>
                  <a:srgbClr val="02C39A"/>
                </a:solidFill>
                <a:latin typeface="Georgia" pitchFamily="34" charset="0"/>
                <a:ea typeface="Georgia" pitchFamily="34" charset="-122"/>
                <a:cs typeface="Georgia" pitchFamily="34" charset="-120"/>
              </a:rPr>
              <a:t>Sourced &amp; battle-tested</a:t>
            </a:r>
            <a:endParaRPr lang="en-US" sz="1700" dirty="0"/>
          </a:p>
        </p:txBody>
      </p:sp>
      <p:sp>
        <p:nvSpPr>
          <p:cNvPr id="13" name="Text 11"/>
          <p:cNvSpPr/>
          <p:nvPr/>
        </p:nvSpPr>
        <p:spPr>
          <a:xfrm>
            <a:off x="8321040" y="4480560"/>
            <a:ext cx="2926080" cy="914400"/>
          </a:xfrm>
          <a:prstGeom prst="rect">
            <a:avLst/>
          </a:prstGeom>
          <a:noFill/>
          <a:ln/>
        </p:spPr>
        <p:txBody>
          <a:bodyPr wrap="square" rtlCol="0" anchor="ctr"/>
          <a:lstStyle/>
          <a:p>
            <a:pPr indent="0" marL="0">
              <a:buNone/>
            </a:pPr>
            <a:r>
              <a:rPr lang="en-US" sz="1400" dirty="0">
                <a:solidFill>
                  <a:srgbClr val="CADCFC"/>
                </a:solidFill>
                <a:latin typeface="Calibri" pitchFamily="34" charset="0"/>
                <a:ea typeface="Calibri" pitchFamily="34" charset="-122"/>
                <a:cs typeface="Calibri" pitchFamily="34" charset="-120"/>
              </a:rPr>
              <a:t>Every piece of this plan is documented and cited.</a:t>
            </a:r>
            <a:endParaRPr lang="en-US" sz="1400" dirty="0"/>
          </a:p>
        </p:txBody>
      </p:sp>
      <p:sp>
        <p:nvSpPr>
          <p:cNvPr id="14" name="Text 12"/>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THE PAYOFF</a:t>
            </a:r>
            <a:endParaRPr lang="en-US" sz="1300" dirty="0"/>
          </a:p>
        </p:txBody>
      </p:sp>
      <p:sp>
        <p:nvSpPr>
          <p:cNvPr id="3" name="Text 1"/>
          <p:cNvSpPr/>
          <p:nvPr/>
        </p:nvSpPr>
        <p:spPr>
          <a:xfrm>
            <a:off x="640080" y="914400"/>
            <a:ext cx="10881360" cy="822960"/>
          </a:xfrm>
          <a:prstGeom prst="rect">
            <a:avLst/>
          </a:prstGeom>
          <a:noFill/>
          <a:ln/>
        </p:spPr>
        <p:txBody>
          <a:bodyPr wrap="square" rtlCol="0" anchor="ctr"/>
          <a:lstStyle/>
          <a:p>
            <a:pPr indent="0" marL="0">
              <a:buNone/>
            </a:pPr>
            <a:r>
              <a:rPr lang="en-US" sz="3200" b="1" dirty="0">
                <a:solidFill>
                  <a:srgbClr val="1E2761"/>
                </a:solidFill>
                <a:latin typeface="Georgia" pitchFamily="34" charset="0"/>
                <a:ea typeface="Georgia" pitchFamily="34" charset="-122"/>
                <a:cs typeface="Georgia" pitchFamily="34" charset="-120"/>
              </a:rPr>
              <a:t>One team. One engine. One number.</a:t>
            </a:r>
            <a:endParaRPr lang="en-US" sz="3200" dirty="0"/>
          </a:p>
        </p:txBody>
      </p:sp>
      <p:sp>
        <p:nvSpPr>
          <p:cNvPr id="4" name="Shape 2"/>
          <p:cNvSpPr/>
          <p:nvPr/>
        </p:nvSpPr>
        <p:spPr>
          <a:xfrm>
            <a:off x="640080" y="2103120"/>
            <a:ext cx="5120640" cy="3108960"/>
          </a:xfrm>
          <a:prstGeom prst="rect">
            <a:avLst/>
          </a:prstGeom>
          <a:solidFill>
            <a:srgbClr val="1E2761"/>
          </a:solidFill>
          <a:ln/>
          <a:effectLst>
            <a:outerShdw sx="100000" sy="100000" kx="0" ky="0" algn="bl" rotWithShape="0" blurRad="88900" dist="38100" dir="8100000">
              <a:srgbClr val="000000">
                <a:alpha val="12000"/>
              </a:srgbClr>
            </a:outerShdw>
          </a:effectLst>
        </p:spPr>
      </p:sp>
      <p:sp>
        <p:nvSpPr>
          <p:cNvPr id="5" name="Text 3"/>
          <p:cNvSpPr/>
          <p:nvPr/>
        </p:nvSpPr>
        <p:spPr>
          <a:xfrm>
            <a:off x="640080" y="2468880"/>
            <a:ext cx="5120640" cy="1188720"/>
          </a:xfrm>
          <a:prstGeom prst="rect">
            <a:avLst/>
          </a:prstGeom>
          <a:noFill/>
          <a:ln/>
        </p:spPr>
        <p:txBody>
          <a:bodyPr wrap="square" rtlCol="0" anchor="ctr"/>
          <a:lstStyle/>
          <a:p>
            <a:pPr algn="ctr" indent="0" marL="0">
              <a:buNone/>
            </a:pPr>
            <a:r>
              <a:rPr lang="en-US" sz="8000" b="1" dirty="0">
                <a:solidFill>
                  <a:srgbClr val="02C39A"/>
                </a:solidFill>
                <a:latin typeface="Georgia" pitchFamily="34" charset="0"/>
                <a:ea typeface="Georgia" pitchFamily="34" charset="-122"/>
                <a:cs typeface="Georgia" pitchFamily="34" charset="-120"/>
              </a:rPr>
              <a:t>3–5</a:t>
            </a:r>
            <a:endParaRPr lang="en-US" sz="8000" dirty="0"/>
          </a:p>
        </p:txBody>
      </p:sp>
      <p:sp>
        <p:nvSpPr>
          <p:cNvPr id="6" name="Text 4"/>
          <p:cNvSpPr/>
          <p:nvPr/>
        </p:nvSpPr>
        <p:spPr>
          <a:xfrm>
            <a:off x="914400" y="3749040"/>
            <a:ext cx="4572000" cy="109728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booked free assessments / month to start — ramping as it proves out</a:t>
            </a:r>
            <a:endParaRPr lang="en-US" sz="1600" dirty="0"/>
          </a:p>
        </p:txBody>
      </p:sp>
      <p:sp>
        <p:nvSpPr>
          <p:cNvPr id="7" name="Text 5"/>
          <p:cNvSpPr/>
          <p:nvPr/>
        </p:nvSpPr>
        <p:spPr>
          <a:xfrm>
            <a:off x="6126480" y="2468880"/>
            <a:ext cx="5394960" cy="2560320"/>
          </a:xfrm>
          <a:prstGeom prst="rect">
            <a:avLst/>
          </a:prstGeom>
          <a:noFill/>
          <a:ln/>
        </p:spPr>
        <p:txBody>
          <a:bodyPr wrap="square" rtlCol="0" anchor="t"/>
          <a:lstStyle/>
          <a:p>
            <a:pPr indent="0" marL="0">
              <a:lnSpc>
                <a:spcPct val="130000"/>
              </a:lnSpc>
              <a:buNone/>
            </a:pPr>
            <a:r>
              <a:rPr lang="en-US" sz="1800" b="1" dirty="0">
                <a:solidFill>
                  <a:srgbClr val="1E2761"/>
                </a:solidFill>
                <a:latin typeface="Calibri" pitchFamily="34" charset="0"/>
                <a:ea typeface="Calibri" pitchFamily="34" charset="-122"/>
                <a:cs typeface="Calibri" pitchFamily="34" charset="-120"/>
              </a:rPr>
              <a:t>Each assessment is our doorway to:</a:t>
            </a:r>
            <a:endParaRPr lang="en-US" sz="1700" dirty="0"/>
          </a:p>
          <a:p>
            <a:pPr marL="342900" indent="-342900">
              <a:lnSpc>
                <a:spcPct val="130000"/>
              </a:lnSpc>
              <a:buSzPct val="100000"/>
              <a:buChar char="•"/>
            </a:pPr>
            <a:r>
              <a:rPr lang="en-US" sz="1700" dirty="0">
                <a:solidFill>
                  <a:srgbClr val="1E293B"/>
                </a:solidFill>
                <a:latin typeface="Calibri" pitchFamily="34" charset="0"/>
                <a:ea typeface="Calibri" pitchFamily="34" charset="-122"/>
                <a:cs typeface="Calibri" pitchFamily="34" charset="-120"/>
              </a:rPr>
              <a:t>A managed-services client</a:t>
            </a:r>
            <a:endParaRPr lang="en-US" sz="1700" dirty="0"/>
          </a:p>
          <a:p>
            <a:pPr marL="342900" indent="-342900">
              <a:lnSpc>
                <a:spcPct val="130000"/>
              </a:lnSpc>
              <a:buSzPct val="100000"/>
              <a:buChar char="•"/>
            </a:pPr>
            <a:r>
              <a:rPr lang="en-US" sz="1700" dirty="0">
                <a:solidFill>
                  <a:srgbClr val="1E293B"/>
                </a:solidFill>
                <a:latin typeface="Calibri" pitchFamily="34" charset="0"/>
                <a:ea typeface="Calibri" pitchFamily="34" charset="-122"/>
                <a:cs typeface="Calibri" pitchFamily="34" charset="-120"/>
              </a:rPr>
              <a:t>Years of recurring revenue</a:t>
            </a:r>
            <a:endParaRPr lang="en-US" sz="1700" dirty="0"/>
          </a:p>
          <a:p>
            <a:pPr marL="342900" indent="-342900">
              <a:lnSpc>
                <a:spcPct val="130000"/>
              </a:lnSpc>
              <a:buSzPct val="100000"/>
              <a:buChar char="•"/>
            </a:pPr>
            <a:r>
              <a:rPr lang="en-US" sz="1700" dirty="0">
                <a:solidFill>
                  <a:srgbClr val="1E293B"/>
                </a:solidFill>
                <a:latin typeface="Calibri" pitchFamily="34" charset="0"/>
                <a:ea typeface="Calibri" pitchFamily="34" charset="-122"/>
                <a:cs typeface="Calibri" pitchFamily="34" charset="-120"/>
              </a:rPr>
              <a:t>A reference + referrals into the Dream 100</a:t>
            </a:r>
            <a:endParaRPr lang="en-US" sz="1700" dirty="0"/>
          </a:p>
        </p:txBody>
      </p:sp>
      <p:sp>
        <p:nvSpPr>
          <p:cNvPr id="8" name="Text 6"/>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9" name="Text 7"/>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HOW THE ENGINE WORKS</a:t>
            </a:r>
            <a:endParaRPr lang="en-US" sz="1300" dirty="0"/>
          </a:p>
        </p:txBody>
      </p:sp>
      <p:sp>
        <p:nvSpPr>
          <p:cNvPr id="3" name="Text 1"/>
          <p:cNvSpPr/>
          <p:nvPr/>
        </p:nvSpPr>
        <p:spPr>
          <a:xfrm>
            <a:off x="640080" y="914400"/>
            <a:ext cx="1088136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How a stranger becomes a client</a:t>
            </a:r>
            <a:endParaRPr lang="en-US" sz="3000" dirty="0"/>
          </a:p>
        </p:txBody>
      </p:sp>
      <p:sp>
        <p:nvSpPr>
          <p:cNvPr id="4" name="Shape 2"/>
          <p:cNvSpPr/>
          <p:nvPr/>
        </p:nvSpPr>
        <p:spPr>
          <a:xfrm>
            <a:off x="640080" y="2468880"/>
            <a:ext cx="1965960" cy="18288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5" name="Shape 3"/>
          <p:cNvSpPr/>
          <p:nvPr/>
        </p:nvSpPr>
        <p:spPr>
          <a:xfrm>
            <a:off x="1371600" y="2697480"/>
            <a:ext cx="502920" cy="502920"/>
          </a:xfrm>
          <a:prstGeom prst="ellipse">
            <a:avLst/>
          </a:prstGeom>
          <a:solidFill>
            <a:srgbClr val="028090"/>
          </a:solidFill>
          <a:ln/>
        </p:spPr>
      </p:sp>
      <p:sp>
        <p:nvSpPr>
          <p:cNvPr id="6" name="Text 4"/>
          <p:cNvSpPr/>
          <p:nvPr/>
        </p:nvSpPr>
        <p:spPr>
          <a:xfrm>
            <a:off x="1371600"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731520" y="3291840"/>
            <a:ext cx="1783080" cy="457200"/>
          </a:xfrm>
          <a:prstGeom prst="rect">
            <a:avLst/>
          </a:prstGeom>
          <a:noFill/>
          <a:ln/>
        </p:spPr>
        <p:txBody>
          <a:bodyPr wrap="square"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Discover</a:t>
            </a:r>
            <a:endParaRPr lang="en-US" sz="1600" dirty="0"/>
          </a:p>
        </p:txBody>
      </p:sp>
      <p:sp>
        <p:nvSpPr>
          <p:cNvPr id="8" name="Text 6"/>
          <p:cNvSpPr/>
          <p:nvPr/>
        </p:nvSpPr>
        <p:spPr>
          <a:xfrm>
            <a:off x="777240" y="3749040"/>
            <a:ext cx="1691640" cy="50292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She finds us (Traffic)</a:t>
            </a:r>
            <a:endParaRPr lang="en-US" sz="1200" dirty="0"/>
          </a:p>
        </p:txBody>
      </p:sp>
      <p:sp>
        <p:nvSpPr>
          <p:cNvPr id="9" name="Text 7"/>
          <p:cNvSpPr/>
          <p:nvPr/>
        </p:nvSpPr>
        <p:spPr>
          <a:xfrm>
            <a:off x="2468880" y="3200400"/>
            <a:ext cx="457200" cy="457200"/>
          </a:xfrm>
          <a:prstGeom prst="rect">
            <a:avLst/>
          </a:prstGeom>
          <a:noFill/>
          <a:ln/>
        </p:spPr>
        <p:txBody>
          <a:bodyPr wrap="square" rtlCol="0" anchor="ctr"/>
          <a:lstStyle/>
          <a:p>
            <a:pPr algn="ctr" indent="0" marL="0">
              <a:buNone/>
            </a:pPr>
            <a:r>
              <a:rPr lang="en-US" sz="2400" b="1" dirty="0">
                <a:solidFill>
                  <a:srgbClr val="02C39A"/>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2852928" y="2468880"/>
            <a:ext cx="1965960" cy="18288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1" name="Shape 9"/>
          <p:cNvSpPr/>
          <p:nvPr/>
        </p:nvSpPr>
        <p:spPr>
          <a:xfrm>
            <a:off x="3584448" y="2697480"/>
            <a:ext cx="502920" cy="502920"/>
          </a:xfrm>
          <a:prstGeom prst="ellipse">
            <a:avLst/>
          </a:prstGeom>
          <a:solidFill>
            <a:srgbClr val="028090"/>
          </a:solidFill>
          <a:ln/>
        </p:spPr>
      </p:sp>
      <p:sp>
        <p:nvSpPr>
          <p:cNvPr id="12" name="Text 10"/>
          <p:cNvSpPr/>
          <p:nvPr/>
        </p:nvSpPr>
        <p:spPr>
          <a:xfrm>
            <a:off x="3584448"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2944368" y="3291840"/>
            <a:ext cx="1783080" cy="457200"/>
          </a:xfrm>
          <a:prstGeom prst="rect">
            <a:avLst/>
          </a:prstGeom>
          <a:noFill/>
          <a:ln/>
        </p:spPr>
        <p:txBody>
          <a:bodyPr wrap="square"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Trust</a:t>
            </a:r>
            <a:endParaRPr lang="en-US" sz="1600" dirty="0"/>
          </a:p>
        </p:txBody>
      </p:sp>
      <p:sp>
        <p:nvSpPr>
          <p:cNvPr id="14" name="Text 12"/>
          <p:cNvSpPr/>
          <p:nvPr/>
        </p:nvSpPr>
        <p:spPr>
          <a:xfrm>
            <a:off x="2990088" y="3749040"/>
            <a:ext cx="1691640" cy="50292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Our story &amp; expertise (Story)</a:t>
            </a:r>
            <a:endParaRPr lang="en-US" sz="1200" dirty="0"/>
          </a:p>
        </p:txBody>
      </p:sp>
      <p:sp>
        <p:nvSpPr>
          <p:cNvPr id="15" name="Text 13"/>
          <p:cNvSpPr/>
          <p:nvPr/>
        </p:nvSpPr>
        <p:spPr>
          <a:xfrm>
            <a:off x="4681728" y="3200400"/>
            <a:ext cx="457200" cy="457200"/>
          </a:xfrm>
          <a:prstGeom prst="rect">
            <a:avLst/>
          </a:prstGeom>
          <a:noFill/>
          <a:ln/>
        </p:spPr>
        <p:txBody>
          <a:bodyPr wrap="square" rtlCol="0" anchor="ctr"/>
          <a:lstStyle/>
          <a:p>
            <a:pPr algn="ctr" indent="0" marL="0">
              <a:buNone/>
            </a:pPr>
            <a:r>
              <a:rPr lang="en-US" sz="2400" b="1" dirty="0">
                <a:solidFill>
                  <a:srgbClr val="02C39A"/>
                </a:solidFill>
                <a:latin typeface="Calibri" pitchFamily="34" charset="0"/>
                <a:ea typeface="Calibri" pitchFamily="34" charset="-122"/>
                <a:cs typeface="Calibri" pitchFamily="34" charset="-120"/>
              </a:rPr>
              <a:t>→</a:t>
            </a:r>
            <a:endParaRPr lang="en-US" sz="2400" dirty="0"/>
          </a:p>
        </p:txBody>
      </p:sp>
      <p:sp>
        <p:nvSpPr>
          <p:cNvPr id="16" name="Shape 14"/>
          <p:cNvSpPr/>
          <p:nvPr/>
        </p:nvSpPr>
        <p:spPr>
          <a:xfrm>
            <a:off x="5065776" y="2468880"/>
            <a:ext cx="1965960" cy="18288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7" name="Shape 15"/>
          <p:cNvSpPr/>
          <p:nvPr/>
        </p:nvSpPr>
        <p:spPr>
          <a:xfrm>
            <a:off x="5797296" y="2697480"/>
            <a:ext cx="502920" cy="502920"/>
          </a:xfrm>
          <a:prstGeom prst="ellipse">
            <a:avLst/>
          </a:prstGeom>
          <a:solidFill>
            <a:srgbClr val="028090"/>
          </a:solidFill>
          <a:ln/>
        </p:spPr>
      </p:sp>
      <p:sp>
        <p:nvSpPr>
          <p:cNvPr id="18" name="Text 16"/>
          <p:cNvSpPr/>
          <p:nvPr/>
        </p:nvSpPr>
        <p:spPr>
          <a:xfrm>
            <a:off x="5797296"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9" name="Text 17"/>
          <p:cNvSpPr/>
          <p:nvPr/>
        </p:nvSpPr>
        <p:spPr>
          <a:xfrm>
            <a:off x="5157216" y="3291840"/>
            <a:ext cx="1783080" cy="457200"/>
          </a:xfrm>
          <a:prstGeom prst="rect">
            <a:avLst/>
          </a:prstGeom>
          <a:noFill/>
          <a:ln/>
        </p:spPr>
        <p:txBody>
          <a:bodyPr wrap="square"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Opt in</a:t>
            </a:r>
            <a:endParaRPr lang="en-US" sz="1600" dirty="0"/>
          </a:p>
        </p:txBody>
      </p:sp>
      <p:sp>
        <p:nvSpPr>
          <p:cNvPr id="20" name="Text 18"/>
          <p:cNvSpPr/>
          <p:nvPr/>
        </p:nvSpPr>
        <p:spPr>
          <a:xfrm>
            <a:off x="5202936" y="3749040"/>
            <a:ext cx="1691640" cy="50292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Self-check / webinar (Funnels)</a:t>
            </a:r>
            <a:endParaRPr lang="en-US" sz="1200" dirty="0"/>
          </a:p>
        </p:txBody>
      </p:sp>
      <p:sp>
        <p:nvSpPr>
          <p:cNvPr id="21" name="Text 19"/>
          <p:cNvSpPr/>
          <p:nvPr/>
        </p:nvSpPr>
        <p:spPr>
          <a:xfrm>
            <a:off x="6894576" y="3200400"/>
            <a:ext cx="457200" cy="457200"/>
          </a:xfrm>
          <a:prstGeom prst="rect">
            <a:avLst/>
          </a:prstGeom>
          <a:noFill/>
          <a:ln/>
        </p:spPr>
        <p:txBody>
          <a:bodyPr wrap="square" rtlCol="0" anchor="ctr"/>
          <a:lstStyle/>
          <a:p>
            <a:pPr algn="ctr" indent="0" marL="0">
              <a:buNone/>
            </a:pPr>
            <a:r>
              <a:rPr lang="en-US" sz="2400" b="1" dirty="0">
                <a:solidFill>
                  <a:srgbClr val="02C39A"/>
                </a:solidFill>
                <a:latin typeface="Calibri" pitchFamily="34" charset="0"/>
                <a:ea typeface="Calibri" pitchFamily="34" charset="-122"/>
                <a:cs typeface="Calibri" pitchFamily="34" charset="-120"/>
              </a:rPr>
              <a:t>→</a:t>
            </a:r>
            <a:endParaRPr lang="en-US" sz="2400" dirty="0"/>
          </a:p>
        </p:txBody>
      </p:sp>
      <p:sp>
        <p:nvSpPr>
          <p:cNvPr id="22" name="Shape 20"/>
          <p:cNvSpPr/>
          <p:nvPr/>
        </p:nvSpPr>
        <p:spPr>
          <a:xfrm>
            <a:off x="7278624" y="2468880"/>
            <a:ext cx="1965960" cy="18288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23" name="Shape 21"/>
          <p:cNvSpPr/>
          <p:nvPr/>
        </p:nvSpPr>
        <p:spPr>
          <a:xfrm>
            <a:off x="8010144" y="2697480"/>
            <a:ext cx="502920" cy="502920"/>
          </a:xfrm>
          <a:prstGeom prst="ellipse">
            <a:avLst/>
          </a:prstGeom>
          <a:solidFill>
            <a:srgbClr val="028090"/>
          </a:solidFill>
          <a:ln/>
        </p:spPr>
      </p:sp>
      <p:sp>
        <p:nvSpPr>
          <p:cNvPr id="24" name="Text 22"/>
          <p:cNvSpPr/>
          <p:nvPr/>
        </p:nvSpPr>
        <p:spPr>
          <a:xfrm>
            <a:off x="8010144"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5" name="Text 23"/>
          <p:cNvSpPr/>
          <p:nvPr/>
        </p:nvSpPr>
        <p:spPr>
          <a:xfrm>
            <a:off x="7370064" y="3291840"/>
            <a:ext cx="1783080" cy="457200"/>
          </a:xfrm>
          <a:prstGeom prst="rect">
            <a:avLst/>
          </a:prstGeom>
          <a:noFill/>
          <a:ln/>
        </p:spPr>
        <p:txBody>
          <a:bodyPr wrap="square"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Book</a:t>
            </a:r>
            <a:endParaRPr lang="en-US" sz="1600" dirty="0"/>
          </a:p>
        </p:txBody>
      </p:sp>
      <p:sp>
        <p:nvSpPr>
          <p:cNvPr id="26" name="Text 24"/>
          <p:cNvSpPr/>
          <p:nvPr/>
        </p:nvSpPr>
        <p:spPr>
          <a:xfrm>
            <a:off x="7415784" y="3749040"/>
            <a:ext cx="1691640" cy="50292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The free assessment</a:t>
            </a:r>
            <a:endParaRPr lang="en-US" sz="1200" dirty="0"/>
          </a:p>
        </p:txBody>
      </p:sp>
      <p:sp>
        <p:nvSpPr>
          <p:cNvPr id="27" name="Text 25"/>
          <p:cNvSpPr/>
          <p:nvPr/>
        </p:nvSpPr>
        <p:spPr>
          <a:xfrm>
            <a:off x="9107424" y="3200400"/>
            <a:ext cx="457200" cy="457200"/>
          </a:xfrm>
          <a:prstGeom prst="rect">
            <a:avLst/>
          </a:prstGeom>
          <a:noFill/>
          <a:ln/>
        </p:spPr>
        <p:txBody>
          <a:bodyPr wrap="square" rtlCol="0" anchor="ctr"/>
          <a:lstStyle/>
          <a:p>
            <a:pPr algn="ctr" indent="0" marL="0">
              <a:buNone/>
            </a:pPr>
            <a:r>
              <a:rPr lang="en-US" sz="2400" b="1" dirty="0">
                <a:solidFill>
                  <a:srgbClr val="02C39A"/>
                </a:solidFill>
                <a:latin typeface="Calibri" pitchFamily="34" charset="0"/>
                <a:ea typeface="Calibri" pitchFamily="34" charset="-122"/>
                <a:cs typeface="Calibri" pitchFamily="34" charset="-120"/>
              </a:rPr>
              <a:t>→</a:t>
            </a:r>
            <a:endParaRPr lang="en-US" sz="2400" dirty="0"/>
          </a:p>
        </p:txBody>
      </p:sp>
      <p:sp>
        <p:nvSpPr>
          <p:cNvPr id="28" name="Shape 26"/>
          <p:cNvSpPr/>
          <p:nvPr/>
        </p:nvSpPr>
        <p:spPr>
          <a:xfrm>
            <a:off x="9491472" y="2468880"/>
            <a:ext cx="1965960" cy="18288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29" name="Shape 27"/>
          <p:cNvSpPr/>
          <p:nvPr/>
        </p:nvSpPr>
        <p:spPr>
          <a:xfrm>
            <a:off x="10222992" y="2697480"/>
            <a:ext cx="502920" cy="502920"/>
          </a:xfrm>
          <a:prstGeom prst="ellipse">
            <a:avLst/>
          </a:prstGeom>
          <a:solidFill>
            <a:srgbClr val="028090"/>
          </a:solidFill>
          <a:ln/>
        </p:spPr>
      </p:sp>
      <p:sp>
        <p:nvSpPr>
          <p:cNvPr id="30" name="Text 28"/>
          <p:cNvSpPr/>
          <p:nvPr/>
        </p:nvSpPr>
        <p:spPr>
          <a:xfrm>
            <a:off x="10222992" y="2697480"/>
            <a:ext cx="502920" cy="50292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5</a:t>
            </a:r>
            <a:endParaRPr lang="en-US" sz="1800" dirty="0"/>
          </a:p>
        </p:txBody>
      </p:sp>
      <p:sp>
        <p:nvSpPr>
          <p:cNvPr id="31" name="Text 29"/>
          <p:cNvSpPr/>
          <p:nvPr/>
        </p:nvSpPr>
        <p:spPr>
          <a:xfrm>
            <a:off x="9582912" y="3291840"/>
            <a:ext cx="1783080" cy="457200"/>
          </a:xfrm>
          <a:prstGeom prst="rect">
            <a:avLst/>
          </a:prstGeom>
          <a:noFill/>
          <a:ln/>
        </p:spPr>
        <p:txBody>
          <a:bodyPr wrap="square" rtlCol="0" anchor="ctr"/>
          <a:lstStyle/>
          <a:p>
            <a:pPr algn="ctr" indent="0" marL="0">
              <a:buNone/>
            </a:pPr>
            <a:r>
              <a:rPr lang="en-US" sz="1600" b="1" dirty="0">
                <a:solidFill>
                  <a:srgbClr val="1E2761"/>
                </a:solidFill>
                <a:latin typeface="Georgia" pitchFamily="34" charset="0"/>
                <a:ea typeface="Georgia" pitchFamily="34" charset="-122"/>
                <a:cs typeface="Georgia" pitchFamily="34" charset="-120"/>
              </a:rPr>
              <a:t>Become a client</a:t>
            </a:r>
            <a:endParaRPr lang="en-US" sz="1600" dirty="0"/>
          </a:p>
        </p:txBody>
      </p:sp>
      <p:sp>
        <p:nvSpPr>
          <p:cNvPr id="32" name="Text 30"/>
          <p:cNvSpPr/>
          <p:nvPr/>
        </p:nvSpPr>
        <p:spPr>
          <a:xfrm>
            <a:off x="9628632" y="3749040"/>
            <a:ext cx="1691640" cy="50292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Managed services</a:t>
            </a:r>
            <a:endParaRPr lang="en-US" sz="1200" dirty="0"/>
          </a:p>
        </p:txBody>
      </p:sp>
      <p:sp>
        <p:nvSpPr>
          <p:cNvPr id="33" name="Text 31"/>
          <p:cNvSpPr/>
          <p:nvPr/>
        </p:nvSpPr>
        <p:spPr>
          <a:xfrm>
            <a:off x="640080" y="4846320"/>
            <a:ext cx="10881360" cy="457200"/>
          </a:xfrm>
          <a:prstGeom prst="rect">
            <a:avLst/>
          </a:prstGeom>
          <a:noFill/>
          <a:ln/>
        </p:spPr>
        <p:txBody>
          <a:bodyPr wrap="square" rtlCol="0" anchor="ctr"/>
          <a:lstStyle/>
          <a:p>
            <a:pPr indent="0" marL="0">
              <a:buNone/>
            </a:pPr>
            <a:r>
              <a:rPr lang="en-US" sz="1600" b="1" i="1" dirty="0">
                <a:solidFill>
                  <a:srgbClr val="028090"/>
                </a:solidFill>
                <a:latin typeface="Calibri" pitchFamily="34" charset="0"/>
                <a:ea typeface="Calibri" pitchFamily="34" charset="-122"/>
                <a:cs typeface="Calibri" pitchFamily="34" charset="-120"/>
              </a:rPr>
              <a:t>All of it rests on a clear FOUNDATION: who we serve and what we offer.</a:t>
            </a:r>
            <a:endParaRPr lang="en-US" sz="1600" dirty="0"/>
          </a:p>
        </p:txBody>
      </p:sp>
      <p:sp>
        <p:nvSpPr>
          <p:cNvPr id="34" name="Text 32"/>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35" name="Text 33"/>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THE SYSTEM</a:t>
            </a:r>
            <a:endParaRPr lang="en-US" sz="1300" dirty="0"/>
          </a:p>
        </p:txBody>
      </p:sp>
      <p:sp>
        <p:nvSpPr>
          <p:cNvPr id="3" name="Text 1"/>
          <p:cNvSpPr/>
          <p:nvPr/>
        </p:nvSpPr>
        <p:spPr>
          <a:xfrm>
            <a:off x="640080" y="914400"/>
            <a:ext cx="1088136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Built on Brunson's four pillars</a:t>
            </a:r>
            <a:endParaRPr lang="en-US" sz="3000" dirty="0"/>
          </a:p>
        </p:txBody>
      </p:sp>
      <p:sp>
        <p:nvSpPr>
          <p:cNvPr id="4" name="Shape 2"/>
          <p:cNvSpPr/>
          <p:nvPr/>
        </p:nvSpPr>
        <p:spPr>
          <a:xfrm>
            <a:off x="640080" y="2194560"/>
            <a:ext cx="5257800" cy="150876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5" name="Shape 3"/>
          <p:cNvSpPr/>
          <p:nvPr/>
        </p:nvSpPr>
        <p:spPr>
          <a:xfrm>
            <a:off x="640080" y="2194560"/>
            <a:ext cx="109728" cy="1508760"/>
          </a:xfrm>
          <a:prstGeom prst="rect">
            <a:avLst/>
          </a:prstGeom>
          <a:solidFill>
            <a:srgbClr val="02C39A"/>
          </a:solidFill>
          <a:ln/>
        </p:spPr>
      </p:sp>
      <p:sp>
        <p:nvSpPr>
          <p:cNvPr id="6" name="Text 4"/>
          <p:cNvSpPr/>
          <p:nvPr/>
        </p:nvSpPr>
        <p:spPr>
          <a:xfrm>
            <a:off x="914400" y="2377440"/>
            <a:ext cx="4754880" cy="457200"/>
          </a:xfrm>
          <a:prstGeom prst="rect">
            <a:avLst/>
          </a:prstGeom>
          <a:noFill/>
          <a:ln/>
        </p:spPr>
        <p:txBody>
          <a:bodyPr wrap="square" rtlCol="0" anchor="ctr"/>
          <a:lstStyle/>
          <a:p>
            <a:pPr indent="0" marL="0">
              <a:buNone/>
            </a:pPr>
            <a:r>
              <a:rPr lang="en-US" sz="2000" b="1" dirty="0">
                <a:solidFill>
                  <a:srgbClr val="1E2761"/>
                </a:solidFill>
                <a:latin typeface="Georgia" pitchFamily="34" charset="0"/>
                <a:ea typeface="Georgia" pitchFamily="34" charset="-122"/>
                <a:cs typeface="Georgia" pitchFamily="34" charset="-120"/>
              </a:rPr>
              <a:t>Foundation</a:t>
            </a:r>
            <a:endParaRPr lang="en-US" sz="2000" dirty="0"/>
          </a:p>
        </p:txBody>
      </p:sp>
      <p:sp>
        <p:nvSpPr>
          <p:cNvPr id="7" name="Text 5"/>
          <p:cNvSpPr/>
          <p:nvPr/>
        </p:nvSpPr>
        <p:spPr>
          <a:xfrm>
            <a:off x="914400" y="2880360"/>
            <a:ext cx="4754880" cy="73152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Who we serve + the offer &amp; value ladder</a:t>
            </a:r>
            <a:endParaRPr lang="en-US" sz="1450" dirty="0"/>
          </a:p>
        </p:txBody>
      </p:sp>
      <p:sp>
        <p:nvSpPr>
          <p:cNvPr id="8" name="Shape 6"/>
          <p:cNvSpPr/>
          <p:nvPr/>
        </p:nvSpPr>
        <p:spPr>
          <a:xfrm>
            <a:off x="6172200" y="2194560"/>
            <a:ext cx="5257800" cy="150876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9" name="Shape 7"/>
          <p:cNvSpPr/>
          <p:nvPr/>
        </p:nvSpPr>
        <p:spPr>
          <a:xfrm>
            <a:off x="6172200" y="2194560"/>
            <a:ext cx="109728" cy="1508760"/>
          </a:xfrm>
          <a:prstGeom prst="rect">
            <a:avLst/>
          </a:prstGeom>
          <a:solidFill>
            <a:srgbClr val="02C39A"/>
          </a:solidFill>
          <a:ln/>
        </p:spPr>
      </p:sp>
      <p:sp>
        <p:nvSpPr>
          <p:cNvPr id="10" name="Text 8"/>
          <p:cNvSpPr/>
          <p:nvPr/>
        </p:nvSpPr>
        <p:spPr>
          <a:xfrm>
            <a:off x="6446520" y="2377440"/>
            <a:ext cx="4754880" cy="457200"/>
          </a:xfrm>
          <a:prstGeom prst="rect">
            <a:avLst/>
          </a:prstGeom>
          <a:noFill/>
          <a:ln/>
        </p:spPr>
        <p:txBody>
          <a:bodyPr wrap="square" rtlCol="0" anchor="ctr"/>
          <a:lstStyle/>
          <a:p>
            <a:pPr indent="0" marL="0">
              <a:buNone/>
            </a:pPr>
            <a:r>
              <a:rPr lang="en-US" sz="2000" b="1" dirty="0">
                <a:solidFill>
                  <a:srgbClr val="1E2761"/>
                </a:solidFill>
                <a:latin typeface="Georgia" pitchFamily="34" charset="0"/>
                <a:ea typeface="Georgia" pitchFamily="34" charset="-122"/>
                <a:cs typeface="Georgia" pitchFamily="34" charset="-120"/>
              </a:rPr>
              <a:t>Story</a:t>
            </a:r>
            <a:endParaRPr lang="en-US" sz="2000" dirty="0"/>
          </a:p>
        </p:txBody>
      </p:sp>
      <p:sp>
        <p:nvSpPr>
          <p:cNvPr id="11" name="Text 9"/>
          <p:cNvSpPr/>
          <p:nvPr/>
        </p:nvSpPr>
        <p:spPr>
          <a:xfrm>
            <a:off x="6446520" y="2880360"/>
            <a:ext cx="4754880" cy="73152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The trusted, relatable expert + belief-building stories</a:t>
            </a:r>
            <a:endParaRPr lang="en-US" sz="1450" dirty="0"/>
          </a:p>
        </p:txBody>
      </p:sp>
      <p:sp>
        <p:nvSpPr>
          <p:cNvPr id="12" name="Shape 10"/>
          <p:cNvSpPr/>
          <p:nvPr/>
        </p:nvSpPr>
        <p:spPr>
          <a:xfrm>
            <a:off x="640080" y="3886200"/>
            <a:ext cx="5257800" cy="150876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3" name="Shape 11"/>
          <p:cNvSpPr/>
          <p:nvPr/>
        </p:nvSpPr>
        <p:spPr>
          <a:xfrm>
            <a:off x="640080" y="3886200"/>
            <a:ext cx="109728" cy="1508760"/>
          </a:xfrm>
          <a:prstGeom prst="rect">
            <a:avLst/>
          </a:prstGeom>
          <a:solidFill>
            <a:srgbClr val="02C39A"/>
          </a:solidFill>
          <a:ln/>
        </p:spPr>
      </p:sp>
      <p:sp>
        <p:nvSpPr>
          <p:cNvPr id="14" name="Text 12"/>
          <p:cNvSpPr/>
          <p:nvPr/>
        </p:nvSpPr>
        <p:spPr>
          <a:xfrm>
            <a:off x="914400" y="4069080"/>
            <a:ext cx="4754880" cy="457200"/>
          </a:xfrm>
          <a:prstGeom prst="rect">
            <a:avLst/>
          </a:prstGeom>
          <a:noFill/>
          <a:ln/>
        </p:spPr>
        <p:txBody>
          <a:bodyPr wrap="square" rtlCol="0" anchor="ctr"/>
          <a:lstStyle/>
          <a:p>
            <a:pPr indent="0" marL="0">
              <a:buNone/>
            </a:pPr>
            <a:r>
              <a:rPr lang="en-US" sz="2000" b="1" dirty="0">
                <a:solidFill>
                  <a:srgbClr val="1E2761"/>
                </a:solidFill>
                <a:latin typeface="Georgia" pitchFamily="34" charset="0"/>
                <a:ea typeface="Georgia" pitchFamily="34" charset="-122"/>
                <a:cs typeface="Georgia" pitchFamily="34" charset="-120"/>
              </a:rPr>
              <a:t>Funnels</a:t>
            </a:r>
            <a:endParaRPr lang="en-US" sz="2000" dirty="0"/>
          </a:p>
        </p:txBody>
      </p:sp>
      <p:sp>
        <p:nvSpPr>
          <p:cNvPr id="15" name="Text 13"/>
          <p:cNvSpPr/>
          <p:nvPr/>
        </p:nvSpPr>
        <p:spPr>
          <a:xfrm>
            <a:off x="914400" y="4572000"/>
            <a:ext cx="4754880" cy="73152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The pages, webinar &amp; automation that move people</a:t>
            </a:r>
            <a:endParaRPr lang="en-US" sz="1450" dirty="0"/>
          </a:p>
        </p:txBody>
      </p:sp>
      <p:sp>
        <p:nvSpPr>
          <p:cNvPr id="16" name="Shape 14"/>
          <p:cNvSpPr/>
          <p:nvPr/>
        </p:nvSpPr>
        <p:spPr>
          <a:xfrm>
            <a:off x="6172200" y="3886200"/>
            <a:ext cx="5257800" cy="150876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7" name="Shape 15"/>
          <p:cNvSpPr/>
          <p:nvPr/>
        </p:nvSpPr>
        <p:spPr>
          <a:xfrm>
            <a:off x="6172200" y="3886200"/>
            <a:ext cx="109728" cy="1508760"/>
          </a:xfrm>
          <a:prstGeom prst="rect">
            <a:avLst/>
          </a:prstGeom>
          <a:solidFill>
            <a:srgbClr val="02C39A"/>
          </a:solidFill>
          <a:ln/>
        </p:spPr>
      </p:sp>
      <p:sp>
        <p:nvSpPr>
          <p:cNvPr id="18" name="Text 16"/>
          <p:cNvSpPr/>
          <p:nvPr/>
        </p:nvSpPr>
        <p:spPr>
          <a:xfrm>
            <a:off x="6446520" y="4069080"/>
            <a:ext cx="4754880" cy="457200"/>
          </a:xfrm>
          <a:prstGeom prst="rect">
            <a:avLst/>
          </a:prstGeom>
          <a:noFill/>
          <a:ln/>
        </p:spPr>
        <p:txBody>
          <a:bodyPr wrap="square" rtlCol="0" anchor="ctr"/>
          <a:lstStyle/>
          <a:p>
            <a:pPr indent="0" marL="0">
              <a:buNone/>
            </a:pPr>
            <a:r>
              <a:rPr lang="en-US" sz="2000" b="1" dirty="0">
                <a:solidFill>
                  <a:srgbClr val="1E2761"/>
                </a:solidFill>
                <a:latin typeface="Georgia" pitchFamily="34" charset="0"/>
                <a:ea typeface="Georgia" pitchFamily="34" charset="-122"/>
                <a:cs typeface="Georgia" pitchFamily="34" charset="-120"/>
              </a:rPr>
              <a:t>Traffic</a:t>
            </a:r>
            <a:endParaRPr lang="en-US" sz="2000" dirty="0"/>
          </a:p>
        </p:txBody>
      </p:sp>
      <p:sp>
        <p:nvSpPr>
          <p:cNvPr id="19" name="Text 17"/>
          <p:cNvSpPr/>
          <p:nvPr/>
        </p:nvSpPr>
        <p:spPr>
          <a:xfrm>
            <a:off x="6446520" y="4572000"/>
            <a:ext cx="4754880" cy="731520"/>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Getting found + filling the funnel (calls, Dream 100, content)</a:t>
            </a:r>
            <a:endParaRPr lang="en-US" sz="1450" dirty="0"/>
          </a:p>
        </p:txBody>
      </p:sp>
      <p:sp>
        <p:nvSpPr>
          <p:cNvPr id="20" name="Text 18"/>
          <p:cNvSpPr/>
          <p:nvPr/>
        </p:nvSpPr>
        <p:spPr>
          <a:xfrm>
            <a:off x="640080" y="5669280"/>
            <a:ext cx="10881360" cy="457200"/>
          </a:xfrm>
          <a:prstGeom prst="rect">
            <a:avLst/>
          </a:prstGeom>
          <a:noFill/>
          <a:ln/>
        </p:spPr>
        <p:txBody>
          <a:bodyPr wrap="square" rtlCol="0" anchor="ctr"/>
          <a:lstStyle/>
          <a:p>
            <a:pPr indent="0" marL="0">
              <a:buNone/>
            </a:pPr>
            <a:r>
              <a:rPr lang="en-US" sz="1600" b="1" i="1" dirty="0">
                <a:solidFill>
                  <a:srgbClr val="028090"/>
                </a:solidFill>
                <a:latin typeface="Calibri" pitchFamily="34" charset="0"/>
                <a:ea typeface="Calibri" pitchFamily="34" charset="-122"/>
                <a:cs typeface="Calibri" pitchFamily="34" charset="-120"/>
              </a:rPr>
              <a:t>Everything wraps in Hook → Story → Offer.</a:t>
            </a:r>
            <a:endParaRPr lang="en-US" sz="1600" dirty="0"/>
          </a:p>
        </p:txBody>
      </p:sp>
      <p:sp>
        <p:nvSpPr>
          <p:cNvPr id="21" name="Text 19"/>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22" name="Text 20"/>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THE STEPS WE TAKE, TOGETHER</a:t>
            </a:r>
            <a:endParaRPr lang="en-US" sz="1300" dirty="0"/>
          </a:p>
        </p:txBody>
      </p:sp>
      <p:sp>
        <p:nvSpPr>
          <p:cNvPr id="3" name="Text 1"/>
          <p:cNvSpPr/>
          <p:nvPr/>
        </p:nvSpPr>
        <p:spPr>
          <a:xfrm>
            <a:off x="640080" y="914400"/>
            <a:ext cx="10881360" cy="64008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Who owns what</a:t>
            </a:r>
            <a:endParaRPr lang="en-US" sz="3000" dirty="0"/>
          </a:p>
        </p:txBody>
      </p:sp>
      <p:sp>
        <p:nvSpPr>
          <p:cNvPr id="4" name="Shape 2"/>
          <p:cNvSpPr/>
          <p:nvPr/>
        </p:nvSpPr>
        <p:spPr>
          <a:xfrm>
            <a:off x="640080" y="1783080"/>
            <a:ext cx="10881360" cy="502920"/>
          </a:xfrm>
          <a:prstGeom prst="rect">
            <a:avLst/>
          </a:prstGeom>
          <a:solidFill>
            <a:srgbClr val="1E2761"/>
          </a:solidFill>
          <a:ln/>
        </p:spPr>
      </p:sp>
      <p:sp>
        <p:nvSpPr>
          <p:cNvPr id="5" name="Text 3"/>
          <p:cNvSpPr/>
          <p:nvPr/>
        </p:nvSpPr>
        <p:spPr>
          <a:xfrm>
            <a:off x="777240" y="1783080"/>
            <a:ext cx="182880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Person</a:t>
            </a:r>
            <a:endParaRPr lang="en-US" sz="1400" dirty="0"/>
          </a:p>
        </p:txBody>
      </p:sp>
      <p:sp>
        <p:nvSpPr>
          <p:cNvPr id="6" name="Text 4"/>
          <p:cNvSpPr/>
          <p:nvPr/>
        </p:nvSpPr>
        <p:spPr>
          <a:xfrm>
            <a:off x="2697480" y="1783080"/>
            <a:ext cx="329184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Pillar</a:t>
            </a:r>
            <a:endParaRPr lang="en-US" sz="1400" dirty="0"/>
          </a:p>
        </p:txBody>
      </p:sp>
      <p:sp>
        <p:nvSpPr>
          <p:cNvPr id="7" name="Text 5"/>
          <p:cNvSpPr/>
          <p:nvPr/>
        </p:nvSpPr>
        <p:spPr>
          <a:xfrm>
            <a:off x="6126480" y="1783080"/>
            <a:ext cx="5212080" cy="50292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Contribution</a:t>
            </a:r>
            <a:endParaRPr lang="en-US" sz="1400" dirty="0"/>
          </a:p>
        </p:txBody>
      </p:sp>
      <p:sp>
        <p:nvSpPr>
          <p:cNvPr id="8" name="Shape 6"/>
          <p:cNvSpPr/>
          <p:nvPr/>
        </p:nvSpPr>
        <p:spPr>
          <a:xfrm>
            <a:off x="640080" y="2286000"/>
            <a:ext cx="10881360" cy="841248"/>
          </a:xfrm>
          <a:prstGeom prst="rect">
            <a:avLst/>
          </a:prstGeom>
          <a:solidFill>
            <a:srgbClr val="EEF4F8"/>
          </a:solidFill>
          <a:ln w="6350">
            <a:solidFill>
              <a:srgbClr val="DCE7EE"/>
            </a:solidFill>
            <a:prstDash val="solid"/>
          </a:ln>
        </p:spPr>
      </p:sp>
      <p:sp>
        <p:nvSpPr>
          <p:cNvPr id="9" name="Text 7"/>
          <p:cNvSpPr/>
          <p:nvPr/>
        </p:nvSpPr>
        <p:spPr>
          <a:xfrm>
            <a:off x="777240" y="2286000"/>
            <a:ext cx="1828800" cy="841248"/>
          </a:xfrm>
          <a:prstGeom prst="rect">
            <a:avLst/>
          </a:prstGeom>
          <a:noFill/>
          <a:ln/>
        </p:spPr>
        <p:txBody>
          <a:bodyPr wrap="square"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Elena</a:t>
            </a:r>
            <a:endParaRPr lang="en-US" sz="1700" dirty="0"/>
          </a:p>
        </p:txBody>
      </p:sp>
      <p:sp>
        <p:nvSpPr>
          <p:cNvPr id="10" name="Text 8"/>
          <p:cNvSpPr/>
          <p:nvPr/>
        </p:nvSpPr>
        <p:spPr>
          <a:xfrm>
            <a:off x="2697480" y="2286000"/>
            <a:ext cx="3291840" cy="841248"/>
          </a:xfrm>
          <a:prstGeom prst="rect">
            <a:avLst/>
          </a:prstGeom>
          <a:noFill/>
          <a:ln/>
        </p:spPr>
        <p:txBody>
          <a:bodyPr wrap="square"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Foundation + Webinar</a:t>
            </a:r>
            <a:endParaRPr lang="en-US" sz="1350" dirty="0"/>
          </a:p>
        </p:txBody>
      </p:sp>
      <p:sp>
        <p:nvSpPr>
          <p:cNvPr id="11" name="Text 9"/>
          <p:cNvSpPr/>
          <p:nvPr/>
        </p:nvSpPr>
        <p:spPr>
          <a:xfrm>
            <a:off x="6126480" y="2286000"/>
            <a:ext cx="5212080" cy="841248"/>
          </a:xfrm>
          <a:prstGeom prst="rect">
            <a:avLst/>
          </a:prstGeom>
          <a:noFill/>
          <a:ln/>
        </p:spPr>
        <p:txBody>
          <a:bodyPr wrap="square" rtlCol="0" anchor="ctr"/>
          <a:lstStyle/>
          <a:p>
            <a:pPr indent="0" marL="0">
              <a:buNone/>
            </a:pPr>
            <a:r>
              <a:rPr lang="en-US" sz="1350" dirty="0">
                <a:solidFill>
                  <a:srgbClr val="1E293B"/>
                </a:solidFill>
                <a:latin typeface="Calibri" pitchFamily="34" charset="0"/>
                <a:ea typeface="Calibri" pitchFamily="34" charset="-122"/>
                <a:cs typeface="Calibri" pitchFamily="34" charset="-120"/>
              </a:rPr>
              <a:t>Strategy, offer, value ladder; run the webinar</a:t>
            </a:r>
            <a:endParaRPr lang="en-US" sz="1350" dirty="0"/>
          </a:p>
        </p:txBody>
      </p:sp>
      <p:sp>
        <p:nvSpPr>
          <p:cNvPr id="12" name="Shape 10"/>
          <p:cNvSpPr/>
          <p:nvPr/>
        </p:nvSpPr>
        <p:spPr>
          <a:xfrm>
            <a:off x="640080" y="3127248"/>
            <a:ext cx="10881360" cy="841248"/>
          </a:xfrm>
          <a:prstGeom prst="rect">
            <a:avLst/>
          </a:prstGeom>
          <a:solidFill>
            <a:srgbClr val="FFFFFF"/>
          </a:solidFill>
          <a:ln w="6350">
            <a:solidFill>
              <a:srgbClr val="DCE7EE"/>
            </a:solidFill>
            <a:prstDash val="solid"/>
          </a:ln>
        </p:spPr>
      </p:sp>
      <p:sp>
        <p:nvSpPr>
          <p:cNvPr id="13" name="Text 11"/>
          <p:cNvSpPr/>
          <p:nvPr/>
        </p:nvSpPr>
        <p:spPr>
          <a:xfrm>
            <a:off x="777240" y="3127248"/>
            <a:ext cx="1828800" cy="841248"/>
          </a:xfrm>
          <a:prstGeom prst="rect">
            <a:avLst/>
          </a:prstGeom>
          <a:noFill/>
          <a:ln/>
        </p:spPr>
        <p:txBody>
          <a:bodyPr wrap="square"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Alek</a:t>
            </a:r>
            <a:endParaRPr lang="en-US" sz="1700" dirty="0"/>
          </a:p>
        </p:txBody>
      </p:sp>
      <p:sp>
        <p:nvSpPr>
          <p:cNvPr id="14" name="Text 12"/>
          <p:cNvSpPr/>
          <p:nvPr/>
        </p:nvSpPr>
        <p:spPr>
          <a:xfrm>
            <a:off x="2697480" y="3127248"/>
            <a:ext cx="3291840" cy="841248"/>
          </a:xfrm>
          <a:prstGeom prst="rect">
            <a:avLst/>
          </a:prstGeom>
          <a:noFill/>
          <a:ln/>
        </p:spPr>
        <p:txBody>
          <a:bodyPr wrap="square"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Story (Attractive Character)</a:t>
            </a:r>
            <a:endParaRPr lang="en-US" sz="1350" dirty="0"/>
          </a:p>
        </p:txBody>
      </p:sp>
      <p:sp>
        <p:nvSpPr>
          <p:cNvPr id="15" name="Text 13"/>
          <p:cNvSpPr/>
          <p:nvPr/>
        </p:nvSpPr>
        <p:spPr>
          <a:xfrm>
            <a:off x="6126480" y="3127248"/>
            <a:ext cx="5212080" cy="841248"/>
          </a:xfrm>
          <a:prstGeom prst="rect">
            <a:avLst/>
          </a:prstGeom>
          <a:noFill/>
          <a:ln/>
        </p:spPr>
        <p:txBody>
          <a:bodyPr wrap="square" rtlCol="0" anchor="ctr"/>
          <a:lstStyle/>
          <a:p>
            <a:pPr indent="0" marL="0">
              <a:buNone/>
            </a:pPr>
            <a:r>
              <a:rPr lang="en-US" sz="1350" dirty="0">
                <a:solidFill>
                  <a:srgbClr val="1E293B"/>
                </a:solidFill>
                <a:latin typeface="Calibri" pitchFamily="34" charset="0"/>
                <a:ea typeface="Calibri" pitchFamily="34" charset="-122"/>
                <a:cs typeface="Calibri" pitchFamily="34" charset="-120"/>
              </a:rPr>
              <a:t>The relatable expert + belief-building stories</a:t>
            </a:r>
            <a:endParaRPr lang="en-US" sz="1350" dirty="0"/>
          </a:p>
        </p:txBody>
      </p:sp>
      <p:sp>
        <p:nvSpPr>
          <p:cNvPr id="16" name="Shape 14"/>
          <p:cNvSpPr/>
          <p:nvPr/>
        </p:nvSpPr>
        <p:spPr>
          <a:xfrm>
            <a:off x="640080" y="3968496"/>
            <a:ext cx="10881360" cy="841248"/>
          </a:xfrm>
          <a:prstGeom prst="rect">
            <a:avLst/>
          </a:prstGeom>
          <a:solidFill>
            <a:srgbClr val="EEF4F8"/>
          </a:solidFill>
          <a:ln w="6350">
            <a:solidFill>
              <a:srgbClr val="DCE7EE"/>
            </a:solidFill>
            <a:prstDash val="solid"/>
          </a:ln>
        </p:spPr>
      </p:sp>
      <p:sp>
        <p:nvSpPr>
          <p:cNvPr id="17" name="Text 15"/>
          <p:cNvSpPr/>
          <p:nvPr/>
        </p:nvSpPr>
        <p:spPr>
          <a:xfrm>
            <a:off x="777240" y="3968496"/>
            <a:ext cx="1828800" cy="841248"/>
          </a:xfrm>
          <a:prstGeom prst="rect">
            <a:avLst/>
          </a:prstGeom>
          <a:noFill/>
          <a:ln/>
        </p:spPr>
        <p:txBody>
          <a:bodyPr wrap="square"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Dima</a:t>
            </a:r>
            <a:endParaRPr lang="en-US" sz="1700" dirty="0"/>
          </a:p>
        </p:txBody>
      </p:sp>
      <p:sp>
        <p:nvSpPr>
          <p:cNvPr id="18" name="Text 16"/>
          <p:cNvSpPr/>
          <p:nvPr/>
        </p:nvSpPr>
        <p:spPr>
          <a:xfrm>
            <a:off x="2697480" y="3968496"/>
            <a:ext cx="3291840" cy="841248"/>
          </a:xfrm>
          <a:prstGeom prst="rect">
            <a:avLst/>
          </a:prstGeom>
          <a:noFill/>
          <a:ln/>
        </p:spPr>
        <p:txBody>
          <a:bodyPr wrap="square"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Funnels — website</a:t>
            </a:r>
            <a:endParaRPr lang="en-US" sz="1350" dirty="0"/>
          </a:p>
        </p:txBody>
      </p:sp>
      <p:sp>
        <p:nvSpPr>
          <p:cNvPr id="19" name="Text 17"/>
          <p:cNvSpPr/>
          <p:nvPr/>
        </p:nvSpPr>
        <p:spPr>
          <a:xfrm>
            <a:off x="6126480" y="3968496"/>
            <a:ext cx="5212080" cy="841248"/>
          </a:xfrm>
          <a:prstGeom prst="rect">
            <a:avLst/>
          </a:prstGeom>
          <a:noFill/>
          <a:ln/>
        </p:spPr>
        <p:txBody>
          <a:bodyPr wrap="square" rtlCol="0" anchor="ctr"/>
          <a:lstStyle/>
          <a:p>
            <a:pPr indent="0" marL="0">
              <a:buNone/>
            </a:pPr>
            <a:r>
              <a:rPr lang="en-US" sz="1350" dirty="0">
                <a:solidFill>
                  <a:srgbClr val="1E293B"/>
                </a:solidFill>
                <a:latin typeface="Calibri" pitchFamily="34" charset="0"/>
                <a:ea typeface="Calibri" pitchFamily="34" charset="-122"/>
                <a:cs typeface="Calibri" pitchFamily="34" charset="-120"/>
              </a:rPr>
              <a:t>Host &amp; build the pages and registration</a:t>
            </a:r>
            <a:endParaRPr lang="en-US" sz="1350" dirty="0"/>
          </a:p>
        </p:txBody>
      </p:sp>
      <p:sp>
        <p:nvSpPr>
          <p:cNvPr id="20" name="Shape 18"/>
          <p:cNvSpPr/>
          <p:nvPr/>
        </p:nvSpPr>
        <p:spPr>
          <a:xfrm>
            <a:off x="640080" y="4809744"/>
            <a:ext cx="10881360" cy="841248"/>
          </a:xfrm>
          <a:prstGeom prst="rect">
            <a:avLst/>
          </a:prstGeom>
          <a:solidFill>
            <a:srgbClr val="FFFFFF"/>
          </a:solidFill>
          <a:ln w="6350">
            <a:solidFill>
              <a:srgbClr val="DCE7EE"/>
            </a:solidFill>
            <a:prstDash val="solid"/>
          </a:ln>
        </p:spPr>
      </p:sp>
      <p:sp>
        <p:nvSpPr>
          <p:cNvPr id="21" name="Text 19"/>
          <p:cNvSpPr/>
          <p:nvPr/>
        </p:nvSpPr>
        <p:spPr>
          <a:xfrm>
            <a:off x="777240" y="4809744"/>
            <a:ext cx="1828800" cy="841248"/>
          </a:xfrm>
          <a:prstGeom prst="rect">
            <a:avLst/>
          </a:prstGeom>
          <a:noFill/>
          <a:ln/>
        </p:spPr>
        <p:txBody>
          <a:bodyPr wrap="square"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Yaro</a:t>
            </a:r>
            <a:endParaRPr lang="en-US" sz="1700" dirty="0"/>
          </a:p>
        </p:txBody>
      </p:sp>
      <p:sp>
        <p:nvSpPr>
          <p:cNvPr id="22" name="Text 20"/>
          <p:cNvSpPr/>
          <p:nvPr/>
        </p:nvSpPr>
        <p:spPr>
          <a:xfrm>
            <a:off x="2697480" y="4809744"/>
            <a:ext cx="3291840" cy="841248"/>
          </a:xfrm>
          <a:prstGeom prst="rect">
            <a:avLst/>
          </a:prstGeom>
          <a:noFill/>
          <a:ln/>
        </p:spPr>
        <p:txBody>
          <a:bodyPr wrap="square"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Funnels — HubSpot + Measurement</a:t>
            </a:r>
            <a:endParaRPr lang="en-US" sz="1350" dirty="0"/>
          </a:p>
        </p:txBody>
      </p:sp>
      <p:sp>
        <p:nvSpPr>
          <p:cNvPr id="23" name="Text 21"/>
          <p:cNvSpPr/>
          <p:nvPr/>
        </p:nvSpPr>
        <p:spPr>
          <a:xfrm>
            <a:off x="6126480" y="4809744"/>
            <a:ext cx="5212080" cy="841248"/>
          </a:xfrm>
          <a:prstGeom prst="rect">
            <a:avLst/>
          </a:prstGeom>
          <a:noFill/>
          <a:ln/>
        </p:spPr>
        <p:txBody>
          <a:bodyPr wrap="square" rtlCol="0" anchor="ctr"/>
          <a:lstStyle/>
          <a:p>
            <a:pPr indent="0" marL="0">
              <a:buNone/>
            </a:pPr>
            <a:r>
              <a:rPr lang="en-US" sz="1350" dirty="0">
                <a:solidFill>
                  <a:srgbClr val="1E293B"/>
                </a:solidFill>
                <a:latin typeface="Calibri" pitchFamily="34" charset="0"/>
                <a:ea typeface="Calibri" pitchFamily="34" charset="-122"/>
                <a:cs typeface="Calibri" pitchFamily="34" charset="-120"/>
              </a:rPr>
              <a:t>Forms, sequences, scheduler, the scoreboard</a:t>
            </a:r>
            <a:endParaRPr lang="en-US" sz="1350" dirty="0"/>
          </a:p>
        </p:txBody>
      </p:sp>
      <p:sp>
        <p:nvSpPr>
          <p:cNvPr id="24" name="Shape 22"/>
          <p:cNvSpPr/>
          <p:nvPr/>
        </p:nvSpPr>
        <p:spPr>
          <a:xfrm>
            <a:off x="640080" y="5650992"/>
            <a:ext cx="10881360" cy="841248"/>
          </a:xfrm>
          <a:prstGeom prst="rect">
            <a:avLst/>
          </a:prstGeom>
          <a:solidFill>
            <a:srgbClr val="EEF4F8"/>
          </a:solidFill>
          <a:ln w="6350">
            <a:solidFill>
              <a:srgbClr val="DCE7EE"/>
            </a:solidFill>
            <a:prstDash val="solid"/>
          </a:ln>
        </p:spPr>
      </p:sp>
      <p:sp>
        <p:nvSpPr>
          <p:cNvPr id="25" name="Text 23"/>
          <p:cNvSpPr/>
          <p:nvPr/>
        </p:nvSpPr>
        <p:spPr>
          <a:xfrm>
            <a:off x="777240" y="5650992"/>
            <a:ext cx="1828800" cy="841248"/>
          </a:xfrm>
          <a:prstGeom prst="rect">
            <a:avLst/>
          </a:prstGeom>
          <a:noFill/>
          <a:ln/>
        </p:spPr>
        <p:txBody>
          <a:bodyPr wrap="square" rtlCol="0" anchor="ctr"/>
          <a:lstStyle/>
          <a:p>
            <a:pPr indent="0" marL="0">
              <a:buNone/>
            </a:pPr>
            <a:r>
              <a:rPr lang="en-US" sz="1700" b="1" dirty="0">
                <a:solidFill>
                  <a:srgbClr val="1E2761"/>
                </a:solidFill>
                <a:latin typeface="Georgia" pitchFamily="34" charset="0"/>
                <a:ea typeface="Georgia" pitchFamily="34" charset="-122"/>
                <a:cs typeface="Georgia" pitchFamily="34" charset="-120"/>
              </a:rPr>
              <a:t>Serge</a:t>
            </a:r>
            <a:endParaRPr lang="en-US" sz="1700" dirty="0"/>
          </a:p>
        </p:txBody>
      </p:sp>
      <p:sp>
        <p:nvSpPr>
          <p:cNvPr id="26" name="Text 24"/>
          <p:cNvSpPr/>
          <p:nvPr/>
        </p:nvSpPr>
        <p:spPr>
          <a:xfrm>
            <a:off x="2697480" y="5650992"/>
            <a:ext cx="3291840" cy="841248"/>
          </a:xfrm>
          <a:prstGeom prst="rect">
            <a:avLst/>
          </a:prstGeom>
          <a:noFill/>
          <a:ln/>
        </p:spPr>
        <p:txBody>
          <a:bodyPr wrap="square" rtlCol="0" anchor="ctr"/>
          <a:lstStyle/>
          <a:p>
            <a:pPr indent="0" marL="0">
              <a:buNone/>
            </a:pPr>
            <a:r>
              <a:rPr lang="en-US" sz="1350" b="1" dirty="0">
                <a:solidFill>
                  <a:srgbClr val="028090"/>
                </a:solidFill>
                <a:latin typeface="Calibri" pitchFamily="34" charset="0"/>
                <a:ea typeface="Calibri" pitchFamily="34" charset="-122"/>
                <a:cs typeface="Calibri" pitchFamily="34" charset="-120"/>
              </a:rPr>
              <a:t>Traffic — sales &amp; calling</a:t>
            </a:r>
            <a:endParaRPr lang="en-US" sz="1350" dirty="0"/>
          </a:p>
        </p:txBody>
      </p:sp>
      <p:sp>
        <p:nvSpPr>
          <p:cNvPr id="27" name="Text 25"/>
          <p:cNvSpPr/>
          <p:nvPr/>
        </p:nvSpPr>
        <p:spPr>
          <a:xfrm>
            <a:off x="6126480" y="5650992"/>
            <a:ext cx="5212080" cy="841248"/>
          </a:xfrm>
          <a:prstGeom prst="rect">
            <a:avLst/>
          </a:prstGeom>
          <a:noFill/>
          <a:ln/>
        </p:spPr>
        <p:txBody>
          <a:bodyPr wrap="square" rtlCol="0" anchor="ctr"/>
          <a:lstStyle/>
          <a:p>
            <a:pPr indent="0" marL="0">
              <a:buNone/>
            </a:pPr>
            <a:r>
              <a:rPr lang="en-US" sz="1350" dirty="0">
                <a:solidFill>
                  <a:srgbClr val="1E293B"/>
                </a:solidFill>
                <a:latin typeface="Calibri" pitchFamily="34" charset="0"/>
                <a:ea typeface="Calibri" pitchFamily="34" charset="-122"/>
                <a:cs typeface="Calibri" pitchFamily="34" charset="-120"/>
              </a:rPr>
              <a:t>Outbound that feeds the funnel</a:t>
            </a:r>
            <a:endParaRPr lang="en-US" sz="1350" dirty="0"/>
          </a:p>
        </p:txBody>
      </p:sp>
      <p:sp>
        <p:nvSpPr>
          <p:cNvPr id="28" name="Text 26"/>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MOMENTUM — WE'VE ALREADY STARTED</a:t>
            </a:r>
            <a:endParaRPr lang="en-US" sz="1300" dirty="0"/>
          </a:p>
        </p:txBody>
      </p:sp>
      <p:sp>
        <p:nvSpPr>
          <p:cNvPr id="3" name="Text 1"/>
          <p:cNvSpPr/>
          <p:nvPr/>
        </p:nvSpPr>
        <p:spPr>
          <a:xfrm>
            <a:off x="640080" y="914400"/>
            <a:ext cx="1088136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What's already built</a:t>
            </a:r>
            <a:endParaRPr lang="en-US" sz="3000" dirty="0"/>
          </a:p>
        </p:txBody>
      </p:sp>
      <p:sp>
        <p:nvSpPr>
          <p:cNvPr id="4" name="Shape 2"/>
          <p:cNvSpPr/>
          <p:nvPr/>
        </p:nvSpPr>
        <p:spPr>
          <a:xfrm>
            <a:off x="640080" y="2194560"/>
            <a:ext cx="5257800" cy="713232"/>
          </a:xfrm>
          <a:prstGeom prst="rect">
            <a:avLst/>
          </a:prstGeom>
          <a:solidFill>
            <a:srgbClr val="FFFFFF"/>
          </a:solidFill>
          <a:ln w="12700">
            <a:solidFill>
              <a:srgbClr val="DCE7EE"/>
            </a:solidFill>
            <a:prstDash val="solid"/>
          </a:ln>
        </p:spPr>
      </p:sp>
      <p:sp>
        <p:nvSpPr>
          <p:cNvPr id="5" name="Text 3"/>
          <p:cNvSpPr/>
          <p:nvPr/>
        </p:nvSpPr>
        <p:spPr>
          <a:xfrm>
            <a:off x="822960" y="219456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325880" y="219456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The webinar (script + deck)</a:t>
            </a:r>
            <a:endParaRPr lang="en-US" sz="1450" dirty="0"/>
          </a:p>
        </p:txBody>
      </p:sp>
      <p:sp>
        <p:nvSpPr>
          <p:cNvPr id="7" name="Shape 5"/>
          <p:cNvSpPr/>
          <p:nvPr/>
        </p:nvSpPr>
        <p:spPr>
          <a:xfrm>
            <a:off x="6172200" y="2194560"/>
            <a:ext cx="5257800" cy="713232"/>
          </a:xfrm>
          <a:prstGeom prst="rect">
            <a:avLst/>
          </a:prstGeom>
          <a:solidFill>
            <a:srgbClr val="FFFFFF"/>
          </a:solidFill>
          <a:ln w="12700">
            <a:solidFill>
              <a:srgbClr val="DCE7EE"/>
            </a:solidFill>
            <a:prstDash val="solid"/>
          </a:ln>
        </p:spPr>
      </p:sp>
      <p:sp>
        <p:nvSpPr>
          <p:cNvPr id="8" name="Text 6"/>
          <p:cNvSpPr/>
          <p:nvPr/>
        </p:nvSpPr>
        <p:spPr>
          <a:xfrm>
            <a:off x="6355080" y="219456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6858000" y="219456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Free 5-Gap Assessment + scorecard + roadmap</a:t>
            </a:r>
            <a:endParaRPr lang="en-US" sz="1450" dirty="0"/>
          </a:p>
        </p:txBody>
      </p:sp>
      <p:sp>
        <p:nvSpPr>
          <p:cNvPr id="10" name="Shape 8"/>
          <p:cNvSpPr/>
          <p:nvPr/>
        </p:nvSpPr>
        <p:spPr>
          <a:xfrm>
            <a:off x="640080" y="3063240"/>
            <a:ext cx="5257800" cy="713232"/>
          </a:xfrm>
          <a:prstGeom prst="rect">
            <a:avLst/>
          </a:prstGeom>
          <a:solidFill>
            <a:srgbClr val="FFFFFF"/>
          </a:solidFill>
          <a:ln w="12700">
            <a:solidFill>
              <a:srgbClr val="DCE7EE"/>
            </a:solidFill>
            <a:prstDash val="solid"/>
          </a:ln>
        </p:spPr>
      </p:sp>
      <p:sp>
        <p:nvSpPr>
          <p:cNvPr id="11" name="Text 9"/>
          <p:cNvSpPr/>
          <p:nvPr/>
        </p:nvSpPr>
        <p:spPr>
          <a:xfrm>
            <a:off x="822960" y="306324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325880" y="306324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Self-check landing page + service sales page</a:t>
            </a:r>
            <a:endParaRPr lang="en-US" sz="1450" dirty="0"/>
          </a:p>
        </p:txBody>
      </p:sp>
      <p:sp>
        <p:nvSpPr>
          <p:cNvPr id="13" name="Shape 11"/>
          <p:cNvSpPr/>
          <p:nvPr/>
        </p:nvSpPr>
        <p:spPr>
          <a:xfrm>
            <a:off x="6172200" y="3063240"/>
            <a:ext cx="5257800" cy="713232"/>
          </a:xfrm>
          <a:prstGeom prst="rect">
            <a:avLst/>
          </a:prstGeom>
          <a:solidFill>
            <a:srgbClr val="FFFFFF"/>
          </a:solidFill>
          <a:ln w="12700">
            <a:solidFill>
              <a:srgbClr val="DCE7EE"/>
            </a:solidFill>
            <a:prstDash val="solid"/>
          </a:ln>
        </p:spPr>
      </p:sp>
      <p:sp>
        <p:nvSpPr>
          <p:cNvPr id="14" name="Text 12"/>
          <p:cNvSpPr/>
          <p:nvPr/>
        </p:nvSpPr>
        <p:spPr>
          <a:xfrm>
            <a:off x="6355080" y="306324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6858000" y="306324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Gated resource hub</a:t>
            </a:r>
            <a:endParaRPr lang="en-US" sz="1450" dirty="0"/>
          </a:p>
        </p:txBody>
      </p:sp>
      <p:sp>
        <p:nvSpPr>
          <p:cNvPr id="16" name="Shape 14"/>
          <p:cNvSpPr/>
          <p:nvPr/>
        </p:nvSpPr>
        <p:spPr>
          <a:xfrm>
            <a:off x="640080" y="3931920"/>
            <a:ext cx="5257800" cy="713232"/>
          </a:xfrm>
          <a:prstGeom prst="rect">
            <a:avLst/>
          </a:prstGeom>
          <a:solidFill>
            <a:srgbClr val="FFFFFF"/>
          </a:solidFill>
          <a:ln w="12700">
            <a:solidFill>
              <a:srgbClr val="DCE7EE"/>
            </a:solidFill>
            <a:prstDash val="solid"/>
          </a:ln>
        </p:spPr>
      </p:sp>
      <p:sp>
        <p:nvSpPr>
          <p:cNvPr id="17" name="Text 15"/>
          <p:cNvSpPr/>
          <p:nvPr/>
        </p:nvSpPr>
        <p:spPr>
          <a:xfrm>
            <a:off x="822960" y="393192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325880" y="393192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Content strategy + first article titles</a:t>
            </a:r>
            <a:endParaRPr lang="en-US" sz="1450" dirty="0"/>
          </a:p>
        </p:txBody>
      </p:sp>
      <p:sp>
        <p:nvSpPr>
          <p:cNvPr id="19" name="Shape 17"/>
          <p:cNvSpPr/>
          <p:nvPr/>
        </p:nvSpPr>
        <p:spPr>
          <a:xfrm>
            <a:off x="6172200" y="3931920"/>
            <a:ext cx="5257800" cy="713232"/>
          </a:xfrm>
          <a:prstGeom prst="rect">
            <a:avLst/>
          </a:prstGeom>
          <a:solidFill>
            <a:srgbClr val="FFFFFF"/>
          </a:solidFill>
          <a:ln w="12700">
            <a:solidFill>
              <a:srgbClr val="DCE7EE"/>
            </a:solidFill>
            <a:prstDash val="solid"/>
          </a:ln>
        </p:spPr>
      </p:sp>
      <p:sp>
        <p:nvSpPr>
          <p:cNvPr id="20" name="Text 18"/>
          <p:cNvSpPr/>
          <p:nvPr/>
        </p:nvSpPr>
        <p:spPr>
          <a:xfrm>
            <a:off x="6355080" y="393192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6858000" y="393192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Dream 100 partner list</a:t>
            </a:r>
            <a:endParaRPr lang="en-US" sz="1450" dirty="0"/>
          </a:p>
        </p:txBody>
      </p:sp>
      <p:sp>
        <p:nvSpPr>
          <p:cNvPr id="22" name="Shape 20"/>
          <p:cNvSpPr/>
          <p:nvPr/>
        </p:nvSpPr>
        <p:spPr>
          <a:xfrm>
            <a:off x="640080" y="4800600"/>
            <a:ext cx="5257800" cy="713232"/>
          </a:xfrm>
          <a:prstGeom prst="rect">
            <a:avLst/>
          </a:prstGeom>
          <a:solidFill>
            <a:srgbClr val="FFFFFF"/>
          </a:solidFill>
          <a:ln w="12700">
            <a:solidFill>
              <a:srgbClr val="DCE7EE"/>
            </a:solidFill>
            <a:prstDash val="solid"/>
          </a:ln>
        </p:spPr>
      </p:sp>
      <p:sp>
        <p:nvSpPr>
          <p:cNvPr id="23" name="Text 21"/>
          <p:cNvSpPr/>
          <p:nvPr/>
        </p:nvSpPr>
        <p:spPr>
          <a:xfrm>
            <a:off x="822960" y="480060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1325880" y="480060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Nurture email sequences</a:t>
            </a:r>
            <a:endParaRPr lang="en-US" sz="1450" dirty="0"/>
          </a:p>
        </p:txBody>
      </p:sp>
      <p:sp>
        <p:nvSpPr>
          <p:cNvPr id="25" name="Shape 23"/>
          <p:cNvSpPr/>
          <p:nvPr/>
        </p:nvSpPr>
        <p:spPr>
          <a:xfrm>
            <a:off x="6172200" y="4800600"/>
            <a:ext cx="5257800" cy="713232"/>
          </a:xfrm>
          <a:prstGeom prst="rect">
            <a:avLst/>
          </a:prstGeom>
          <a:solidFill>
            <a:srgbClr val="FFFFFF"/>
          </a:solidFill>
          <a:ln w="12700">
            <a:solidFill>
              <a:srgbClr val="DCE7EE"/>
            </a:solidFill>
            <a:prstDash val="solid"/>
          </a:ln>
        </p:spPr>
      </p:sp>
      <p:sp>
        <p:nvSpPr>
          <p:cNvPr id="26" name="Text 24"/>
          <p:cNvSpPr/>
          <p:nvPr/>
        </p:nvSpPr>
        <p:spPr>
          <a:xfrm>
            <a:off x="6355080" y="4800600"/>
            <a:ext cx="457200" cy="713232"/>
          </a:xfrm>
          <a:prstGeom prst="rect">
            <a:avLst/>
          </a:prstGeom>
          <a:noFill/>
          <a:ln/>
        </p:spPr>
        <p:txBody>
          <a:bodyPr wrap="square" rtlCol="0" anchor="ctr"/>
          <a:lstStyle/>
          <a:p>
            <a:pPr algn="ctr" indent="0" marL="0">
              <a:buNone/>
            </a:pPr>
            <a:r>
              <a:rPr lang="en-US" sz="1800" b="1" dirty="0">
                <a:solidFill>
                  <a:srgbClr val="02C39A"/>
                </a:solidFill>
                <a:latin typeface="Calibri" pitchFamily="34" charset="0"/>
                <a:ea typeface="Calibri" pitchFamily="34" charset="-122"/>
                <a:cs typeface="Calibri" pitchFamily="34" charset="-120"/>
              </a:rPr>
              <a:t>✓</a:t>
            </a:r>
            <a:endParaRPr lang="en-US" sz="1800" dirty="0"/>
          </a:p>
        </p:txBody>
      </p:sp>
      <p:sp>
        <p:nvSpPr>
          <p:cNvPr id="27" name="Text 25"/>
          <p:cNvSpPr/>
          <p:nvPr/>
        </p:nvSpPr>
        <p:spPr>
          <a:xfrm>
            <a:off x="6858000" y="4800600"/>
            <a:ext cx="4480560" cy="713232"/>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A full library of sourced SOPs</a:t>
            </a:r>
            <a:endParaRPr lang="en-US" sz="1450" dirty="0"/>
          </a:p>
        </p:txBody>
      </p:sp>
      <p:sp>
        <p:nvSpPr>
          <p:cNvPr id="28" name="Text 26"/>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29" name="Text 27"/>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THE ONE BIG GAP</a:t>
            </a:r>
            <a:endParaRPr lang="en-US" sz="1300" dirty="0"/>
          </a:p>
        </p:txBody>
      </p:sp>
      <p:sp>
        <p:nvSpPr>
          <p:cNvPr id="3" name="Text 1"/>
          <p:cNvSpPr/>
          <p:nvPr/>
        </p:nvSpPr>
        <p:spPr>
          <a:xfrm>
            <a:off x="640080" y="1097280"/>
            <a:ext cx="10881360" cy="1097280"/>
          </a:xfrm>
          <a:prstGeom prst="rect">
            <a:avLst/>
          </a:prstGeom>
          <a:noFill/>
          <a:ln/>
        </p:spPr>
        <p:txBody>
          <a:bodyPr wrap="square"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Our story needs a face: the Attractive Character</a:t>
            </a:r>
            <a:endParaRPr lang="en-US" sz="3000" dirty="0"/>
          </a:p>
        </p:txBody>
      </p:sp>
      <p:sp>
        <p:nvSpPr>
          <p:cNvPr id="4" name="Text 2"/>
          <p:cNvSpPr/>
          <p:nvPr/>
        </p:nvSpPr>
        <p:spPr>
          <a:xfrm>
            <a:off x="640080" y="2377440"/>
            <a:ext cx="10881360" cy="822960"/>
          </a:xfrm>
          <a:prstGeom prst="rect">
            <a:avLst/>
          </a:prstGeom>
          <a:noFill/>
          <a:ln/>
        </p:spPr>
        <p:txBody>
          <a:bodyPr wrap="square" rtlCol="0" anchor="ctr"/>
          <a:lstStyle/>
          <a:p>
            <a:pPr indent="0" marL="0">
              <a:buNone/>
            </a:pPr>
            <a:r>
              <a:rPr lang="en-US" sz="1700" dirty="0">
                <a:solidFill>
                  <a:srgbClr val="CADCFC"/>
                </a:solidFill>
                <a:latin typeface="Calibri" pitchFamily="34" charset="0"/>
                <a:ea typeface="Calibri" pitchFamily="34" charset="-122"/>
                <a:cs typeface="Calibri" pitchFamily="34" charset="-120"/>
              </a:rPr>
              <a:t>People follow a person and a cause, not a logo. Our biggest missing piece is a consistent, human voice telling the stories that build trust.</a:t>
            </a:r>
            <a:endParaRPr lang="en-US" sz="1700" dirty="0"/>
          </a:p>
        </p:txBody>
      </p:sp>
      <p:sp>
        <p:nvSpPr>
          <p:cNvPr id="5" name="Shape 3"/>
          <p:cNvSpPr/>
          <p:nvPr/>
        </p:nvSpPr>
        <p:spPr>
          <a:xfrm>
            <a:off x="640080" y="3383280"/>
            <a:ext cx="10881360" cy="2103120"/>
          </a:xfrm>
          <a:prstGeom prst="rect">
            <a:avLst/>
          </a:prstGeom>
          <a:solidFill>
            <a:srgbClr val="172050"/>
          </a:solidFill>
          <a:ln w="19050">
            <a:solidFill>
              <a:srgbClr val="02C39A"/>
            </a:solidFill>
            <a:prstDash val="solid"/>
          </a:ln>
          <a:effectLst>
            <a:outerShdw sx="100000" sy="100000" kx="0" ky="0" algn="bl" rotWithShape="0" blurRad="88900" dist="38100" dir="8100000">
              <a:srgbClr val="000000">
                <a:alpha val="12000"/>
              </a:srgbClr>
            </a:outerShdw>
          </a:effectLst>
        </p:spPr>
      </p:sp>
      <p:sp>
        <p:nvSpPr>
          <p:cNvPr id="6" name="Text 4"/>
          <p:cNvSpPr/>
          <p:nvPr/>
        </p:nvSpPr>
        <p:spPr>
          <a:xfrm>
            <a:off x="914400" y="3611880"/>
            <a:ext cx="10332720" cy="548640"/>
          </a:xfrm>
          <a:prstGeom prst="rect">
            <a:avLst/>
          </a:prstGeom>
          <a:noFill/>
          <a:ln/>
        </p:spPr>
        <p:txBody>
          <a:bodyPr wrap="square" rtlCol="0" anchor="ctr"/>
          <a:lstStyle/>
          <a:p>
            <a:pPr indent="0" marL="0">
              <a:buNone/>
            </a:pPr>
            <a:r>
              <a:rPr lang="en-US" sz="2100" b="1" dirty="0">
                <a:solidFill>
                  <a:srgbClr val="02C39A"/>
                </a:solidFill>
                <a:latin typeface="Georgia" pitchFamily="34" charset="0"/>
                <a:ea typeface="Georgia" pitchFamily="34" charset="-122"/>
                <a:cs typeface="Georgia" pitchFamily="34" charset="-120"/>
              </a:rPr>
              <a:t>The plan: Alek becomes our Attractive Character</a:t>
            </a:r>
            <a:endParaRPr lang="en-US" sz="2100" dirty="0"/>
          </a:p>
        </p:txBody>
      </p:sp>
      <p:sp>
        <p:nvSpPr>
          <p:cNvPr id="7" name="Text 5"/>
          <p:cNvSpPr/>
          <p:nvPr/>
        </p:nvSpPr>
        <p:spPr>
          <a:xfrm>
            <a:off x="914400" y="4206240"/>
            <a:ext cx="10332720" cy="1097280"/>
          </a:xfrm>
          <a:prstGeom prst="rect">
            <a:avLst/>
          </a:prstGeom>
          <a:noFill/>
          <a:ln/>
        </p:spPr>
        <p:txBody>
          <a:bodyPr wrap="square" rtlCol="0" anchor="ctr"/>
          <a:lstStyle/>
          <a:p>
            <a:pPr indent="0" marL="0">
              <a:buNone/>
            </a:pPr>
            <a:r>
              <a:rPr lang="en-US" sz="1550" dirty="0">
                <a:solidFill>
                  <a:srgbClr val="CADCFC"/>
                </a:solidFill>
                <a:latin typeface="Calibri" pitchFamily="34" charset="0"/>
                <a:ea typeface="Calibri" pitchFamily="34" charset="-122"/>
                <a:cs typeface="Calibri" pitchFamily="34" charset="-120"/>
              </a:rPr>
              <a:t>Build a story bank from real client situations → share weekly via the webinar, emails, LinkedIn, and short video → every story points to a next step. (Full playbook in the plan.)</a:t>
            </a:r>
            <a:endParaRPr lang="en-US" sz="1550" dirty="0"/>
          </a:p>
        </p:txBody>
      </p:sp>
      <p:sp>
        <p:nvSpPr>
          <p:cNvPr id="8" name="Text 6"/>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WHAT'S LEFT TO GO LIVE</a:t>
            </a:r>
            <a:endParaRPr lang="en-US" sz="1300" dirty="0"/>
          </a:p>
        </p:txBody>
      </p:sp>
      <p:sp>
        <p:nvSpPr>
          <p:cNvPr id="3" name="Text 1"/>
          <p:cNvSpPr/>
          <p:nvPr/>
        </p:nvSpPr>
        <p:spPr>
          <a:xfrm>
            <a:off x="640080" y="914400"/>
            <a:ext cx="1088136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build queue — by owner</a:t>
            </a:r>
            <a:endParaRPr lang="en-US" sz="3000" dirty="0"/>
          </a:p>
        </p:txBody>
      </p:sp>
      <p:sp>
        <p:nvSpPr>
          <p:cNvPr id="4" name="Shape 2"/>
          <p:cNvSpPr/>
          <p:nvPr/>
        </p:nvSpPr>
        <p:spPr>
          <a:xfrm>
            <a:off x="640080" y="1920240"/>
            <a:ext cx="10881360" cy="603504"/>
          </a:xfrm>
          <a:prstGeom prst="rect">
            <a:avLst/>
          </a:prstGeom>
          <a:solidFill>
            <a:srgbClr val="FFFFFF"/>
          </a:solidFill>
          <a:ln w="12700">
            <a:solidFill>
              <a:srgbClr val="DCE7EE"/>
            </a:solidFill>
            <a:prstDash val="solid"/>
          </a:ln>
        </p:spPr>
      </p:sp>
      <p:sp>
        <p:nvSpPr>
          <p:cNvPr id="5" name="Text 3"/>
          <p:cNvSpPr/>
          <p:nvPr/>
        </p:nvSpPr>
        <p:spPr>
          <a:xfrm>
            <a:off x="822960" y="1920240"/>
            <a:ext cx="1828800" cy="603504"/>
          </a:xfrm>
          <a:prstGeom prst="rect">
            <a:avLst/>
          </a:prstGeom>
          <a:noFill/>
          <a:ln/>
        </p:spPr>
        <p:txBody>
          <a:bodyPr wrap="square" rtlCol="0" anchor="ctr"/>
          <a:lstStyle/>
          <a:p>
            <a:pPr indent="0" marL="0">
              <a:buNone/>
            </a:pPr>
            <a:r>
              <a:rPr lang="en-US" sz="1500" b="1" dirty="0">
                <a:solidFill>
                  <a:srgbClr val="028090"/>
                </a:solidFill>
                <a:latin typeface="Georgia" pitchFamily="34" charset="0"/>
                <a:ea typeface="Georgia" pitchFamily="34" charset="-122"/>
                <a:cs typeface="Georgia" pitchFamily="34" charset="-120"/>
              </a:rPr>
              <a:t>Elena</a:t>
            </a:r>
            <a:endParaRPr lang="en-US" sz="1500" dirty="0"/>
          </a:p>
        </p:txBody>
      </p:sp>
      <p:sp>
        <p:nvSpPr>
          <p:cNvPr id="6" name="Text 4"/>
          <p:cNvSpPr/>
          <p:nvPr/>
        </p:nvSpPr>
        <p:spPr>
          <a:xfrm>
            <a:off x="2743200" y="1920240"/>
            <a:ext cx="8412480" cy="603504"/>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Lock pricing/offer; set webinar date</a:t>
            </a:r>
            <a:endParaRPr lang="en-US" sz="1450" dirty="0"/>
          </a:p>
        </p:txBody>
      </p:sp>
      <p:sp>
        <p:nvSpPr>
          <p:cNvPr id="7" name="Shape 5"/>
          <p:cNvSpPr/>
          <p:nvPr/>
        </p:nvSpPr>
        <p:spPr>
          <a:xfrm>
            <a:off x="640080" y="2633472"/>
            <a:ext cx="10881360" cy="603504"/>
          </a:xfrm>
          <a:prstGeom prst="rect">
            <a:avLst/>
          </a:prstGeom>
          <a:solidFill>
            <a:srgbClr val="FFFFFF"/>
          </a:solidFill>
          <a:ln w="12700">
            <a:solidFill>
              <a:srgbClr val="DCE7EE"/>
            </a:solidFill>
            <a:prstDash val="solid"/>
          </a:ln>
        </p:spPr>
      </p:sp>
      <p:sp>
        <p:nvSpPr>
          <p:cNvPr id="8" name="Text 6"/>
          <p:cNvSpPr/>
          <p:nvPr/>
        </p:nvSpPr>
        <p:spPr>
          <a:xfrm>
            <a:off x="822960" y="2633472"/>
            <a:ext cx="1828800" cy="603504"/>
          </a:xfrm>
          <a:prstGeom prst="rect">
            <a:avLst/>
          </a:prstGeom>
          <a:noFill/>
          <a:ln/>
        </p:spPr>
        <p:txBody>
          <a:bodyPr wrap="square" rtlCol="0" anchor="ctr"/>
          <a:lstStyle/>
          <a:p>
            <a:pPr indent="0" marL="0">
              <a:buNone/>
            </a:pPr>
            <a:r>
              <a:rPr lang="en-US" sz="1500" b="1" dirty="0">
                <a:solidFill>
                  <a:srgbClr val="028090"/>
                </a:solidFill>
                <a:latin typeface="Georgia" pitchFamily="34" charset="0"/>
                <a:ea typeface="Georgia" pitchFamily="34" charset="-122"/>
                <a:cs typeface="Georgia" pitchFamily="34" charset="-120"/>
              </a:rPr>
              <a:t>Alek</a:t>
            </a:r>
            <a:endParaRPr lang="en-US" sz="1500" dirty="0"/>
          </a:p>
        </p:txBody>
      </p:sp>
      <p:sp>
        <p:nvSpPr>
          <p:cNvPr id="9" name="Text 7"/>
          <p:cNvSpPr/>
          <p:nvPr/>
        </p:nvSpPr>
        <p:spPr>
          <a:xfrm>
            <a:off x="2743200" y="2633472"/>
            <a:ext cx="8412480" cy="603504"/>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Build the Attractive Character + story cadence</a:t>
            </a:r>
            <a:endParaRPr lang="en-US" sz="1450" dirty="0"/>
          </a:p>
        </p:txBody>
      </p:sp>
      <p:sp>
        <p:nvSpPr>
          <p:cNvPr id="10" name="Shape 8"/>
          <p:cNvSpPr/>
          <p:nvPr/>
        </p:nvSpPr>
        <p:spPr>
          <a:xfrm>
            <a:off x="640080" y="3346704"/>
            <a:ext cx="10881360" cy="603504"/>
          </a:xfrm>
          <a:prstGeom prst="rect">
            <a:avLst/>
          </a:prstGeom>
          <a:solidFill>
            <a:srgbClr val="FFFFFF"/>
          </a:solidFill>
          <a:ln w="12700">
            <a:solidFill>
              <a:srgbClr val="DCE7EE"/>
            </a:solidFill>
            <a:prstDash val="solid"/>
          </a:ln>
        </p:spPr>
      </p:sp>
      <p:sp>
        <p:nvSpPr>
          <p:cNvPr id="11" name="Text 9"/>
          <p:cNvSpPr/>
          <p:nvPr/>
        </p:nvSpPr>
        <p:spPr>
          <a:xfrm>
            <a:off x="822960" y="3346704"/>
            <a:ext cx="1828800" cy="603504"/>
          </a:xfrm>
          <a:prstGeom prst="rect">
            <a:avLst/>
          </a:prstGeom>
          <a:noFill/>
          <a:ln/>
        </p:spPr>
        <p:txBody>
          <a:bodyPr wrap="square" rtlCol="0" anchor="ctr"/>
          <a:lstStyle/>
          <a:p>
            <a:pPr indent="0" marL="0">
              <a:buNone/>
            </a:pPr>
            <a:r>
              <a:rPr lang="en-US" sz="1500" b="1" dirty="0">
                <a:solidFill>
                  <a:srgbClr val="028090"/>
                </a:solidFill>
                <a:latin typeface="Georgia" pitchFamily="34" charset="0"/>
                <a:ea typeface="Georgia" pitchFamily="34" charset="-122"/>
                <a:cs typeface="Georgia" pitchFamily="34" charset="-120"/>
              </a:rPr>
              <a:t>Dima</a:t>
            </a:r>
            <a:endParaRPr lang="en-US" sz="1500" dirty="0"/>
          </a:p>
        </p:txBody>
      </p:sp>
      <p:sp>
        <p:nvSpPr>
          <p:cNvPr id="12" name="Text 10"/>
          <p:cNvSpPr/>
          <p:nvPr/>
        </p:nvSpPr>
        <p:spPr>
          <a:xfrm>
            <a:off x="2743200" y="3346704"/>
            <a:ext cx="8412480" cy="603504"/>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Host pages + webinar registration page</a:t>
            </a:r>
            <a:endParaRPr lang="en-US" sz="1450" dirty="0"/>
          </a:p>
        </p:txBody>
      </p:sp>
      <p:sp>
        <p:nvSpPr>
          <p:cNvPr id="13" name="Shape 11"/>
          <p:cNvSpPr/>
          <p:nvPr/>
        </p:nvSpPr>
        <p:spPr>
          <a:xfrm>
            <a:off x="640080" y="4059936"/>
            <a:ext cx="10881360" cy="603504"/>
          </a:xfrm>
          <a:prstGeom prst="rect">
            <a:avLst/>
          </a:prstGeom>
          <a:solidFill>
            <a:srgbClr val="FFFFFF"/>
          </a:solidFill>
          <a:ln w="12700">
            <a:solidFill>
              <a:srgbClr val="DCE7EE"/>
            </a:solidFill>
            <a:prstDash val="solid"/>
          </a:ln>
        </p:spPr>
      </p:sp>
      <p:sp>
        <p:nvSpPr>
          <p:cNvPr id="14" name="Text 12"/>
          <p:cNvSpPr/>
          <p:nvPr/>
        </p:nvSpPr>
        <p:spPr>
          <a:xfrm>
            <a:off x="822960" y="4059936"/>
            <a:ext cx="1828800" cy="603504"/>
          </a:xfrm>
          <a:prstGeom prst="rect">
            <a:avLst/>
          </a:prstGeom>
          <a:noFill/>
          <a:ln/>
        </p:spPr>
        <p:txBody>
          <a:bodyPr wrap="square" rtlCol="0" anchor="ctr"/>
          <a:lstStyle/>
          <a:p>
            <a:pPr indent="0" marL="0">
              <a:buNone/>
            </a:pPr>
            <a:r>
              <a:rPr lang="en-US" sz="1500" b="1" dirty="0">
                <a:solidFill>
                  <a:srgbClr val="028090"/>
                </a:solidFill>
                <a:latin typeface="Georgia" pitchFamily="34" charset="0"/>
                <a:ea typeface="Georgia" pitchFamily="34" charset="-122"/>
                <a:cs typeface="Georgia" pitchFamily="34" charset="-120"/>
              </a:rPr>
              <a:t>Yaro</a:t>
            </a:r>
            <a:endParaRPr lang="en-US" sz="1500" dirty="0"/>
          </a:p>
        </p:txBody>
      </p:sp>
      <p:sp>
        <p:nvSpPr>
          <p:cNvPr id="15" name="Text 13"/>
          <p:cNvSpPr/>
          <p:nvPr/>
        </p:nvSpPr>
        <p:spPr>
          <a:xfrm>
            <a:off x="2743200" y="4059936"/>
            <a:ext cx="8412480" cy="603504"/>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Wire HubSpot forms, sequences, scheduler, dashboard</a:t>
            </a:r>
            <a:endParaRPr lang="en-US" sz="1450" dirty="0"/>
          </a:p>
        </p:txBody>
      </p:sp>
      <p:sp>
        <p:nvSpPr>
          <p:cNvPr id="16" name="Shape 14"/>
          <p:cNvSpPr/>
          <p:nvPr/>
        </p:nvSpPr>
        <p:spPr>
          <a:xfrm>
            <a:off x="640080" y="4773168"/>
            <a:ext cx="10881360" cy="603504"/>
          </a:xfrm>
          <a:prstGeom prst="rect">
            <a:avLst/>
          </a:prstGeom>
          <a:solidFill>
            <a:srgbClr val="FFFFFF"/>
          </a:solidFill>
          <a:ln w="12700">
            <a:solidFill>
              <a:srgbClr val="DCE7EE"/>
            </a:solidFill>
            <a:prstDash val="solid"/>
          </a:ln>
        </p:spPr>
      </p:sp>
      <p:sp>
        <p:nvSpPr>
          <p:cNvPr id="17" name="Text 15"/>
          <p:cNvSpPr/>
          <p:nvPr/>
        </p:nvSpPr>
        <p:spPr>
          <a:xfrm>
            <a:off x="822960" y="4773168"/>
            <a:ext cx="1828800" cy="603504"/>
          </a:xfrm>
          <a:prstGeom prst="rect">
            <a:avLst/>
          </a:prstGeom>
          <a:noFill/>
          <a:ln/>
        </p:spPr>
        <p:txBody>
          <a:bodyPr wrap="square" rtlCol="0" anchor="ctr"/>
          <a:lstStyle/>
          <a:p>
            <a:pPr indent="0" marL="0">
              <a:buNone/>
            </a:pPr>
            <a:r>
              <a:rPr lang="en-US" sz="1500" b="1" dirty="0">
                <a:solidFill>
                  <a:srgbClr val="028090"/>
                </a:solidFill>
                <a:latin typeface="Georgia" pitchFamily="34" charset="0"/>
                <a:ea typeface="Georgia" pitchFamily="34" charset="-122"/>
                <a:cs typeface="Georgia" pitchFamily="34" charset="-120"/>
              </a:rPr>
              <a:t>Serge</a:t>
            </a:r>
            <a:endParaRPr lang="en-US" sz="1500" dirty="0"/>
          </a:p>
        </p:txBody>
      </p:sp>
      <p:sp>
        <p:nvSpPr>
          <p:cNvPr id="18" name="Text 16"/>
          <p:cNvSpPr/>
          <p:nvPr/>
        </p:nvSpPr>
        <p:spPr>
          <a:xfrm>
            <a:off x="2743200" y="4773168"/>
            <a:ext cx="8412480" cy="603504"/>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Build contact data + launch calling</a:t>
            </a:r>
            <a:endParaRPr lang="en-US" sz="1450" dirty="0"/>
          </a:p>
        </p:txBody>
      </p:sp>
      <p:sp>
        <p:nvSpPr>
          <p:cNvPr id="19" name="Shape 17"/>
          <p:cNvSpPr/>
          <p:nvPr/>
        </p:nvSpPr>
        <p:spPr>
          <a:xfrm>
            <a:off x="640080" y="5486400"/>
            <a:ext cx="10881360" cy="603504"/>
          </a:xfrm>
          <a:prstGeom prst="rect">
            <a:avLst/>
          </a:prstGeom>
          <a:solidFill>
            <a:srgbClr val="FFFFFF"/>
          </a:solidFill>
          <a:ln w="12700">
            <a:solidFill>
              <a:srgbClr val="DCE7EE"/>
            </a:solidFill>
            <a:prstDash val="solid"/>
          </a:ln>
        </p:spPr>
      </p:sp>
      <p:sp>
        <p:nvSpPr>
          <p:cNvPr id="20" name="Text 18"/>
          <p:cNvSpPr/>
          <p:nvPr/>
        </p:nvSpPr>
        <p:spPr>
          <a:xfrm>
            <a:off x="822960" y="5486400"/>
            <a:ext cx="1828800" cy="603504"/>
          </a:xfrm>
          <a:prstGeom prst="rect">
            <a:avLst/>
          </a:prstGeom>
          <a:noFill/>
          <a:ln/>
        </p:spPr>
        <p:txBody>
          <a:bodyPr wrap="square" rtlCol="0" anchor="ctr"/>
          <a:lstStyle/>
          <a:p>
            <a:pPr indent="0" marL="0">
              <a:buNone/>
            </a:pPr>
            <a:r>
              <a:rPr lang="en-US" sz="1500" b="1" dirty="0">
                <a:solidFill>
                  <a:srgbClr val="028090"/>
                </a:solidFill>
                <a:latin typeface="Georgia" pitchFamily="34" charset="0"/>
                <a:ea typeface="Georgia" pitchFamily="34" charset="-122"/>
                <a:cs typeface="Georgia" pitchFamily="34" charset="-120"/>
              </a:rPr>
              <a:t>Team</a:t>
            </a:r>
            <a:endParaRPr lang="en-US" sz="1500" dirty="0"/>
          </a:p>
        </p:txBody>
      </p:sp>
      <p:sp>
        <p:nvSpPr>
          <p:cNvPr id="21" name="Text 19"/>
          <p:cNvSpPr/>
          <p:nvPr/>
        </p:nvSpPr>
        <p:spPr>
          <a:xfrm>
            <a:off x="2743200" y="5486400"/>
            <a:ext cx="8412480" cy="603504"/>
          </a:xfrm>
          <a:prstGeom prst="rect">
            <a:avLst/>
          </a:prstGeom>
          <a:noFill/>
          <a:ln/>
        </p:spPr>
        <p:txBody>
          <a:bodyPr wrap="square" rtlCol="0" anchor="ctr"/>
          <a:lstStyle/>
          <a:p>
            <a:pPr indent="0" marL="0">
              <a:buNone/>
            </a:pPr>
            <a:r>
              <a:rPr lang="en-US" sz="1450" dirty="0">
                <a:solidFill>
                  <a:srgbClr val="1E293B"/>
                </a:solidFill>
                <a:latin typeface="Calibri" pitchFamily="34" charset="0"/>
                <a:ea typeface="Calibri" pitchFamily="34" charset="-122"/>
                <a:cs typeface="Calibri" pitchFamily="34" charset="-120"/>
              </a:rPr>
              <a:t>Publish first 4 articles; work the Dream 100</a:t>
            </a:r>
            <a:endParaRPr lang="en-US" sz="1450" dirty="0"/>
          </a:p>
        </p:txBody>
      </p:sp>
      <p:sp>
        <p:nvSpPr>
          <p:cNvPr id="22" name="Text 20"/>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23" name="Text 21"/>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THE PLAN IN MOTION</a:t>
            </a:r>
            <a:endParaRPr lang="en-US" sz="1300" dirty="0"/>
          </a:p>
        </p:txBody>
      </p:sp>
      <p:sp>
        <p:nvSpPr>
          <p:cNvPr id="3" name="Text 1"/>
          <p:cNvSpPr/>
          <p:nvPr/>
        </p:nvSpPr>
        <p:spPr>
          <a:xfrm>
            <a:off x="640080" y="914400"/>
            <a:ext cx="1088136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30 / 60 / 90-day rollout</a:t>
            </a:r>
            <a:endParaRPr lang="en-US" sz="3000" dirty="0"/>
          </a:p>
        </p:txBody>
      </p:sp>
      <p:sp>
        <p:nvSpPr>
          <p:cNvPr id="4" name="Shape 2"/>
          <p:cNvSpPr/>
          <p:nvPr/>
        </p:nvSpPr>
        <p:spPr>
          <a:xfrm>
            <a:off x="640080" y="2103120"/>
            <a:ext cx="3429000" cy="32004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5" name="Shape 3"/>
          <p:cNvSpPr/>
          <p:nvPr/>
        </p:nvSpPr>
        <p:spPr>
          <a:xfrm>
            <a:off x="640080" y="2103120"/>
            <a:ext cx="3429000" cy="777240"/>
          </a:xfrm>
          <a:prstGeom prst="rect">
            <a:avLst/>
          </a:prstGeom>
          <a:solidFill>
            <a:srgbClr val="1E2761"/>
          </a:solidFill>
          <a:ln/>
        </p:spPr>
      </p:sp>
      <p:sp>
        <p:nvSpPr>
          <p:cNvPr id="6" name="Text 4"/>
          <p:cNvSpPr/>
          <p:nvPr/>
        </p:nvSpPr>
        <p:spPr>
          <a:xfrm>
            <a:off x="822960" y="2212848"/>
            <a:ext cx="3108960" cy="274320"/>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Days 0–30</a:t>
            </a:r>
            <a:endParaRPr lang="en-US" sz="1200" dirty="0"/>
          </a:p>
        </p:txBody>
      </p:sp>
      <p:sp>
        <p:nvSpPr>
          <p:cNvPr id="7" name="Text 5"/>
          <p:cNvSpPr/>
          <p:nvPr/>
        </p:nvSpPr>
        <p:spPr>
          <a:xfrm>
            <a:off x="822960" y="2468880"/>
            <a:ext cx="310896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Foundation &amp; build</a:t>
            </a:r>
            <a:endParaRPr lang="en-US" sz="1700" dirty="0"/>
          </a:p>
        </p:txBody>
      </p:sp>
      <p:sp>
        <p:nvSpPr>
          <p:cNvPr id="8" name="Text 6"/>
          <p:cNvSpPr/>
          <p:nvPr/>
        </p:nvSpPr>
        <p:spPr>
          <a:xfrm>
            <a:off x="868680" y="3063240"/>
            <a:ext cx="3017520" cy="2103120"/>
          </a:xfrm>
          <a:prstGeom prst="rect">
            <a:avLst/>
          </a:prstGeom>
          <a:noFill/>
          <a:ln/>
        </p:spPr>
        <p:txBody>
          <a:bodyPr wrap="square" rtlCol="0" anchor="t"/>
          <a:lstStyle/>
          <a:p>
            <a:pPr indent="0" marL="0">
              <a:buNone/>
            </a:pPr>
            <a:r>
              <a:rPr lang="en-US" sz="1350" dirty="0">
                <a:solidFill>
                  <a:srgbClr val="1E293B"/>
                </a:solidFill>
                <a:latin typeface="Calibri" pitchFamily="34" charset="0"/>
                <a:ea typeface="Calibri" pitchFamily="34" charset="-122"/>
                <a:cs typeface="Calibri" pitchFamily="34" charset="-120"/>
              </a:rPr>
              <a:t>Lock offer; host pages + registration; wire HubSpot + scheduler; Alek's story interview; set webinar date</a:t>
            </a:r>
            <a:endParaRPr lang="en-US" sz="1350" dirty="0"/>
          </a:p>
        </p:txBody>
      </p:sp>
      <p:sp>
        <p:nvSpPr>
          <p:cNvPr id="9" name="Shape 7"/>
          <p:cNvSpPr/>
          <p:nvPr/>
        </p:nvSpPr>
        <p:spPr>
          <a:xfrm>
            <a:off x="4343400" y="2103120"/>
            <a:ext cx="3429000" cy="32004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0" name="Shape 8"/>
          <p:cNvSpPr/>
          <p:nvPr/>
        </p:nvSpPr>
        <p:spPr>
          <a:xfrm>
            <a:off x="4343400" y="2103120"/>
            <a:ext cx="3429000" cy="777240"/>
          </a:xfrm>
          <a:prstGeom prst="rect">
            <a:avLst/>
          </a:prstGeom>
          <a:solidFill>
            <a:srgbClr val="1E2761"/>
          </a:solidFill>
          <a:ln/>
        </p:spPr>
      </p:sp>
      <p:sp>
        <p:nvSpPr>
          <p:cNvPr id="11" name="Text 9"/>
          <p:cNvSpPr/>
          <p:nvPr/>
        </p:nvSpPr>
        <p:spPr>
          <a:xfrm>
            <a:off x="4526280" y="2212848"/>
            <a:ext cx="3108960" cy="274320"/>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Days 30–60</a:t>
            </a:r>
            <a:endParaRPr lang="en-US" sz="1200" dirty="0"/>
          </a:p>
        </p:txBody>
      </p:sp>
      <p:sp>
        <p:nvSpPr>
          <p:cNvPr id="12" name="Text 10"/>
          <p:cNvSpPr/>
          <p:nvPr/>
        </p:nvSpPr>
        <p:spPr>
          <a:xfrm>
            <a:off x="4526280" y="2468880"/>
            <a:ext cx="310896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Turn it on</a:t>
            </a:r>
            <a:endParaRPr lang="en-US" sz="1700" dirty="0"/>
          </a:p>
        </p:txBody>
      </p:sp>
      <p:sp>
        <p:nvSpPr>
          <p:cNvPr id="13" name="Text 11"/>
          <p:cNvSpPr/>
          <p:nvPr/>
        </p:nvSpPr>
        <p:spPr>
          <a:xfrm>
            <a:off x="4572000" y="3063240"/>
            <a:ext cx="3017520" cy="2103120"/>
          </a:xfrm>
          <a:prstGeom prst="rect">
            <a:avLst/>
          </a:prstGeom>
          <a:noFill/>
          <a:ln/>
        </p:spPr>
        <p:txBody>
          <a:bodyPr wrap="square" rtlCol="0" anchor="t"/>
          <a:lstStyle/>
          <a:p>
            <a:pPr indent="0" marL="0">
              <a:buNone/>
            </a:pPr>
            <a:r>
              <a:rPr lang="en-US" sz="1350" dirty="0">
                <a:solidFill>
                  <a:srgbClr val="1E293B"/>
                </a:solidFill>
                <a:latin typeface="Calibri" pitchFamily="34" charset="0"/>
                <a:ea typeface="Calibri" pitchFamily="34" charset="-122"/>
                <a:cs typeface="Calibri" pitchFamily="34" charset="-120"/>
              </a:rPr>
              <a:t>Load emails; launch warm calling; publish first articles; begin Dream 100; run webinar #1</a:t>
            </a:r>
            <a:endParaRPr lang="en-US" sz="1350" dirty="0"/>
          </a:p>
        </p:txBody>
      </p:sp>
      <p:sp>
        <p:nvSpPr>
          <p:cNvPr id="14" name="Shape 12"/>
          <p:cNvSpPr/>
          <p:nvPr/>
        </p:nvSpPr>
        <p:spPr>
          <a:xfrm>
            <a:off x="8046720" y="2103120"/>
            <a:ext cx="3429000" cy="320040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5" name="Shape 13"/>
          <p:cNvSpPr/>
          <p:nvPr/>
        </p:nvSpPr>
        <p:spPr>
          <a:xfrm>
            <a:off x="8046720" y="2103120"/>
            <a:ext cx="3429000" cy="777240"/>
          </a:xfrm>
          <a:prstGeom prst="rect">
            <a:avLst/>
          </a:prstGeom>
          <a:solidFill>
            <a:srgbClr val="1E2761"/>
          </a:solidFill>
          <a:ln/>
        </p:spPr>
      </p:sp>
      <p:sp>
        <p:nvSpPr>
          <p:cNvPr id="16" name="Text 14"/>
          <p:cNvSpPr/>
          <p:nvPr/>
        </p:nvSpPr>
        <p:spPr>
          <a:xfrm>
            <a:off x="8229600" y="2212848"/>
            <a:ext cx="3108960" cy="274320"/>
          </a:xfrm>
          <a:prstGeom prst="rect">
            <a:avLst/>
          </a:prstGeom>
          <a:noFill/>
          <a:ln/>
        </p:spPr>
        <p:txBody>
          <a:bodyPr wrap="square" rtlCol="0" anchor="ctr"/>
          <a:lstStyle/>
          <a:p>
            <a:pPr indent="0" marL="0">
              <a:buNone/>
            </a:pPr>
            <a:r>
              <a:rPr lang="en-US" sz="1200" b="1" dirty="0">
                <a:solidFill>
                  <a:srgbClr val="02C39A"/>
                </a:solidFill>
                <a:latin typeface="Calibri" pitchFamily="34" charset="0"/>
                <a:ea typeface="Calibri" pitchFamily="34" charset="-122"/>
                <a:cs typeface="Calibri" pitchFamily="34" charset="-120"/>
              </a:rPr>
              <a:t>Days 60–90</a:t>
            </a:r>
            <a:endParaRPr lang="en-US" sz="1200" dirty="0"/>
          </a:p>
        </p:txBody>
      </p:sp>
      <p:sp>
        <p:nvSpPr>
          <p:cNvPr id="17" name="Text 15"/>
          <p:cNvSpPr/>
          <p:nvPr/>
        </p:nvSpPr>
        <p:spPr>
          <a:xfrm>
            <a:off x="8229600" y="2468880"/>
            <a:ext cx="3108960" cy="365760"/>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Ramp</a:t>
            </a:r>
            <a:endParaRPr lang="en-US" sz="1700" dirty="0"/>
          </a:p>
        </p:txBody>
      </p:sp>
      <p:sp>
        <p:nvSpPr>
          <p:cNvPr id="18" name="Text 16"/>
          <p:cNvSpPr/>
          <p:nvPr/>
        </p:nvSpPr>
        <p:spPr>
          <a:xfrm>
            <a:off x="8275320" y="3063240"/>
            <a:ext cx="3017520" cy="2103120"/>
          </a:xfrm>
          <a:prstGeom prst="rect">
            <a:avLst/>
          </a:prstGeom>
          <a:noFill/>
          <a:ln/>
        </p:spPr>
        <p:txBody>
          <a:bodyPr wrap="square" rtlCol="0" anchor="t"/>
          <a:lstStyle/>
          <a:p>
            <a:pPr indent="0" marL="0">
              <a:buNone/>
            </a:pPr>
            <a:r>
              <a:rPr lang="en-US" sz="1350" dirty="0">
                <a:solidFill>
                  <a:srgbClr val="1E293B"/>
                </a:solidFill>
                <a:latin typeface="Calibri" pitchFamily="34" charset="0"/>
                <a:ea typeface="Calibri" pitchFamily="34" charset="-122"/>
                <a:cs typeface="Calibri" pitchFamily="34" charset="-120"/>
              </a:rPr>
              <a:t>Add cold/ABM calling; more articles; weekly story cadence; optimize from the dashboard; hit 3–5/month</a:t>
            </a:r>
            <a:endParaRPr lang="en-US" sz="1350" dirty="0"/>
          </a:p>
        </p:txBody>
      </p:sp>
      <p:sp>
        <p:nvSpPr>
          <p:cNvPr id="19" name="Text 17"/>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20" name="Text 18"/>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HOW WE KEEP IT ON TRACK</a:t>
            </a:r>
            <a:endParaRPr lang="en-US" sz="1300" dirty="0"/>
          </a:p>
        </p:txBody>
      </p:sp>
      <p:sp>
        <p:nvSpPr>
          <p:cNvPr id="3" name="Text 1"/>
          <p:cNvSpPr/>
          <p:nvPr/>
        </p:nvSpPr>
        <p:spPr>
          <a:xfrm>
            <a:off x="640080" y="914400"/>
            <a:ext cx="10881360" cy="73152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One cadence, one scoreboard</a:t>
            </a:r>
            <a:endParaRPr lang="en-US" sz="3000" dirty="0"/>
          </a:p>
        </p:txBody>
      </p:sp>
      <p:sp>
        <p:nvSpPr>
          <p:cNvPr id="4" name="Text 2"/>
          <p:cNvSpPr/>
          <p:nvPr/>
        </p:nvSpPr>
        <p:spPr>
          <a:xfrm>
            <a:off x="822960" y="2194560"/>
            <a:ext cx="10515600" cy="2743200"/>
          </a:xfrm>
          <a:prstGeom prst="rect">
            <a:avLst/>
          </a:prstGeom>
          <a:noFill/>
          <a:ln/>
        </p:spPr>
        <p:txBody>
          <a:bodyPr wrap="square" rtlCol="0" anchor="ctr"/>
          <a:lstStyle/>
          <a:p>
            <a:pPr marL="342900" indent="-342900">
              <a:lnSpc>
                <a:spcPct val="140000"/>
              </a:lnSpc>
              <a:buSzPct val="100000"/>
              <a:buChar char="•"/>
            </a:pPr>
            <a:r>
              <a:rPr lang="en-US" sz="1800" dirty="0">
                <a:solidFill>
                  <a:srgbClr val="1E293B"/>
                </a:solidFill>
                <a:latin typeface="Calibri" pitchFamily="34" charset="0"/>
                <a:ea typeface="Calibri" pitchFamily="34" charset="-122"/>
                <a:cs typeface="Calibri" pitchFamily="34" charset="-120"/>
              </a:rPr>
              <a:t>Weekly 30-minute standup — each owner reports their pillar's progress.</a:t>
            </a:r>
            <a:endParaRPr lang="en-US" sz="1800" dirty="0"/>
          </a:p>
          <a:p>
            <a:pPr marL="342900" indent="-342900">
              <a:lnSpc>
                <a:spcPct val="140000"/>
              </a:lnSpc>
              <a:buSzPct val="100000"/>
              <a:buChar char="•"/>
            </a:pPr>
            <a:r>
              <a:rPr lang="en-US" sz="1800" dirty="0">
                <a:solidFill>
                  <a:srgbClr val="1E293B"/>
                </a:solidFill>
                <a:latin typeface="Calibri" pitchFamily="34" charset="0"/>
                <a:ea typeface="Calibri" pitchFamily="34" charset="-122"/>
                <a:cs typeface="Calibri" pitchFamily="34" charset="-120"/>
              </a:rPr>
              <a:t>Yaro reports the north-star (assessments booked) + funnel metrics every week.</a:t>
            </a:r>
            <a:endParaRPr lang="en-US" sz="1800" dirty="0"/>
          </a:p>
          <a:p>
            <a:pPr marL="342900" indent="-342900">
              <a:lnSpc>
                <a:spcPct val="140000"/>
              </a:lnSpc>
              <a:buSzPct val="100000"/>
              <a:buChar char="•"/>
            </a:pPr>
            <a:r>
              <a:rPr lang="en-US" sz="1800" dirty="0">
                <a:solidFill>
                  <a:srgbClr val="1E293B"/>
                </a:solidFill>
                <a:latin typeface="Calibri" pitchFamily="34" charset="0"/>
                <a:ea typeface="Calibri" pitchFamily="34" charset="-122"/>
                <a:cs typeface="Calibri" pitchFamily="34" charset="-120"/>
              </a:rPr>
              <a:t>Every agenda asks: “what did we do this week to increase booked assessments?”</a:t>
            </a:r>
            <a:endParaRPr lang="en-US" sz="1800" dirty="0"/>
          </a:p>
          <a:p>
            <a:pPr marL="342900" indent="-342900">
              <a:lnSpc>
                <a:spcPct val="140000"/>
              </a:lnSpc>
              <a:buSzPct val="100000"/>
              <a:buChar char="•"/>
            </a:pPr>
            <a:r>
              <a:rPr lang="en-US" sz="1800" dirty="0">
                <a:solidFill>
                  <a:srgbClr val="1E293B"/>
                </a:solidFill>
                <a:latin typeface="Calibri" pitchFamily="34" charset="0"/>
                <a:ea typeface="Calibri" pitchFamily="34" charset="-122"/>
                <a:cs typeface="Calibri" pitchFamily="34" charset="-120"/>
              </a:rPr>
              <a:t>We double down on what converts and cut what doesn't.</a:t>
            </a:r>
            <a:endParaRPr lang="en-US" sz="1800" dirty="0"/>
          </a:p>
        </p:txBody>
      </p:sp>
      <p:sp>
        <p:nvSpPr>
          <p:cNvPr id="5" name="Text 3"/>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6" name="Text 4"/>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A"/>
        </a:solidFill>
      </p:bgPr>
    </p:bg>
    <p:spTree>
      <p:nvGrpSpPr>
        <p:cNvPr id="1" name=""/>
        <p:cNvGrpSpPr/>
        <p:nvPr/>
      </p:nvGrpSpPr>
      <p:grpSpPr>
        <a:xfrm>
          <a:off x="0" y="0"/>
          <a:ext cx="0" cy="0"/>
          <a:chOff x="0" y="0"/>
          <a:chExt cx="0" cy="0"/>
        </a:xfrm>
      </p:grpSpPr>
      <p:sp>
        <p:nvSpPr>
          <p:cNvPr id="2" name="Text 0"/>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8090"/>
                </a:solidFill>
                <a:latin typeface="Calibri" pitchFamily="34" charset="0"/>
                <a:ea typeface="Calibri" pitchFamily="34" charset="-122"/>
                <a:cs typeface="Calibri" pitchFamily="34" charset="-120"/>
              </a:rPr>
              <a:t>THE INVESTMENT</a:t>
            </a:r>
            <a:endParaRPr lang="en-US" sz="1300" dirty="0"/>
          </a:p>
        </p:txBody>
      </p:sp>
      <p:sp>
        <p:nvSpPr>
          <p:cNvPr id="3" name="Text 1"/>
          <p:cNvSpPr/>
          <p:nvPr/>
        </p:nvSpPr>
        <p:spPr>
          <a:xfrm>
            <a:off x="640080" y="868680"/>
            <a:ext cx="10881360" cy="914400"/>
          </a:xfrm>
          <a:prstGeom prst="rect">
            <a:avLst/>
          </a:prstGeom>
          <a:noFill/>
          <a:ln/>
        </p:spPr>
        <p:txBody>
          <a:bodyPr wrap="square" rtlCol="0" anchor="ctr"/>
          <a:lstStyle/>
          <a:p>
            <a:pPr indent="0" marL="0">
              <a:buNone/>
            </a:pPr>
            <a:r>
              <a:rPr lang="en-US" sz="2700" b="1" dirty="0">
                <a:solidFill>
                  <a:srgbClr val="1E2761"/>
                </a:solidFill>
                <a:latin typeface="Georgia" pitchFamily="34" charset="0"/>
                <a:ea typeface="Georgia" pitchFamily="34" charset="-122"/>
                <a:cs typeface="Georgia" pitchFamily="34" charset="-120"/>
              </a:rPr>
              <a:t>This isn't new spend — it's the same budget, finally aimed.</a:t>
            </a:r>
            <a:endParaRPr lang="en-US" sz="2700" dirty="0"/>
          </a:p>
        </p:txBody>
      </p:sp>
      <p:sp>
        <p:nvSpPr>
          <p:cNvPr id="4" name="Shape 2"/>
          <p:cNvSpPr/>
          <p:nvPr/>
        </p:nvSpPr>
        <p:spPr>
          <a:xfrm>
            <a:off x="640080" y="1965960"/>
            <a:ext cx="5212080" cy="246888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5" name="Shape 3"/>
          <p:cNvSpPr/>
          <p:nvPr/>
        </p:nvSpPr>
        <p:spPr>
          <a:xfrm>
            <a:off x="640080" y="1965960"/>
            <a:ext cx="5212080" cy="548640"/>
          </a:xfrm>
          <a:prstGeom prst="rect">
            <a:avLst/>
          </a:prstGeom>
          <a:solidFill>
            <a:srgbClr val="B85042"/>
          </a:solidFill>
          <a:ln/>
        </p:spPr>
      </p:sp>
      <p:sp>
        <p:nvSpPr>
          <p:cNvPr id="6" name="Text 4"/>
          <p:cNvSpPr/>
          <p:nvPr/>
        </p:nvSpPr>
        <p:spPr>
          <a:xfrm>
            <a:off x="822960" y="2029968"/>
            <a:ext cx="4846320" cy="420624"/>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Today — scattered</a:t>
            </a:r>
            <a:endParaRPr lang="en-US" sz="1700" dirty="0"/>
          </a:p>
        </p:txBody>
      </p:sp>
      <p:sp>
        <p:nvSpPr>
          <p:cNvPr id="7" name="Text 5"/>
          <p:cNvSpPr/>
          <p:nvPr/>
        </p:nvSpPr>
        <p:spPr>
          <a:xfrm>
            <a:off x="914400" y="2697480"/>
            <a:ext cx="4754880" cy="1645920"/>
          </a:xfrm>
          <a:prstGeom prst="rect">
            <a:avLst/>
          </a:prstGeom>
          <a:noFill/>
          <a:ln/>
        </p:spPr>
        <p:txBody>
          <a:bodyPr wrap="square" rtlCol="0" anchor="t"/>
          <a:lstStyle/>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Tools &amp; one-off efforts we already pay for</a:t>
            </a:r>
            <a:endParaRPr lang="en-US" sz="1450" dirty="0"/>
          </a:p>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Team time on random, unmeasured tasks</a:t>
            </a:r>
            <a:endParaRPr lang="en-US" sz="1450" dirty="0"/>
          </a:p>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Hard to track — unclear what's working</a:t>
            </a:r>
            <a:endParaRPr lang="en-US" sz="1450" dirty="0"/>
          </a:p>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Money spent, but not compounding</a:t>
            </a:r>
            <a:endParaRPr lang="en-US" sz="1450" dirty="0"/>
          </a:p>
        </p:txBody>
      </p:sp>
      <p:sp>
        <p:nvSpPr>
          <p:cNvPr id="8" name="Text 6"/>
          <p:cNvSpPr/>
          <p:nvPr/>
        </p:nvSpPr>
        <p:spPr>
          <a:xfrm>
            <a:off x="5897880" y="2788920"/>
            <a:ext cx="457200" cy="548640"/>
          </a:xfrm>
          <a:prstGeom prst="rect">
            <a:avLst/>
          </a:prstGeom>
          <a:noFill/>
          <a:ln/>
        </p:spPr>
        <p:txBody>
          <a:bodyPr wrap="square" rtlCol="0" anchor="ctr"/>
          <a:lstStyle/>
          <a:p>
            <a:pPr algn="ctr" indent="0" marL="0">
              <a:buNone/>
            </a:pPr>
            <a:r>
              <a:rPr lang="en-US" sz="3000" b="1" dirty="0">
                <a:solidFill>
                  <a:srgbClr val="02C39A"/>
                </a:solidFill>
                <a:latin typeface="Calibri" pitchFamily="34" charset="0"/>
                <a:ea typeface="Calibri" pitchFamily="34" charset="-122"/>
                <a:cs typeface="Calibri" pitchFamily="34" charset="-120"/>
              </a:rPr>
              <a:t>→</a:t>
            </a:r>
            <a:endParaRPr lang="en-US" sz="3000" dirty="0"/>
          </a:p>
        </p:txBody>
      </p:sp>
      <p:sp>
        <p:nvSpPr>
          <p:cNvPr id="9" name="Shape 7"/>
          <p:cNvSpPr/>
          <p:nvPr/>
        </p:nvSpPr>
        <p:spPr>
          <a:xfrm>
            <a:off x="6355080" y="1965960"/>
            <a:ext cx="5166360" cy="2468880"/>
          </a:xfrm>
          <a:prstGeom prst="rect">
            <a:avLst/>
          </a:prstGeom>
          <a:solidFill>
            <a:srgbClr val="FFFFFF"/>
          </a:solidFill>
          <a:ln w="12700">
            <a:solidFill>
              <a:srgbClr val="DCE7EE"/>
            </a:solidFill>
            <a:prstDash val="solid"/>
          </a:ln>
          <a:effectLst>
            <a:outerShdw sx="100000" sy="100000" kx="0" ky="0" algn="bl" rotWithShape="0" blurRad="88900" dist="38100" dir="8100000">
              <a:srgbClr val="000000">
                <a:alpha val="12000"/>
              </a:srgbClr>
            </a:outerShdw>
          </a:effectLst>
        </p:spPr>
      </p:sp>
      <p:sp>
        <p:nvSpPr>
          <p:cNvPr id="10" name="Shape 8"/>
          <p:cNvSpPr/>
          <p:nvPr/>
        </p:nvSpPr>
        <p:spPr>
          <a:xfrm>
            <a:off x="6355080" y="1965960"/>
            <a:ext cx="5166360" cy="548640"/>
          </a:xfrm>
          <a:prstGeom prst="rect">
            <a:avLst/>
          </a:prstGeom>
          <a:solidFill>
            <a:srgbClr val="028090"/>
          </a:solidFill>
          <a:ln/>
        </p:spPr>
      </p:sp>
      <p:sp>
        <p:nvSpPr>
          <p:cNvPr id="11" name="Text 9"/>
          <p:cNvSpPr/>
          <p:nvPr/>
        </p:nvSpPr>
        <p:spPr>
          <a:xfrm>
            <a:off x="6537960" y="2029968"/>
            <a:ext cx="4846320" cy="420624"/>
          </a:xfrm>
          <a:prstGeom prst="rect">
            <a:avLst/>
          </a:prstGeom>
          <a:noFill/>
          <a:ln/>
        </p:spPr>
        <p:txBody>
          <a:bodyPr wrap="square"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With the system — aimed</a:t>
            </a:r>
            <a:endParaRPr lang="en-US" sz="1700" dirty="0"/>
          </a:p>
        </p:txBody>
      </p:sp>
      <p:sp>
        <p:nvSpPr>
          <p:cNvPr id="12" name="Text 10"/>
          <p:cNvSpPr/>
          <p:nvPr/>
        </p:nvSpPr>
        <p:spPr>
          <a:xfrm>
            <a:off x="6629400" y="2697480"/>
            <a:ext cx="4754880" cy="1645920"/>
          </a:xfrm>
          <a:prstGeom prst="rect">
            <a:avLst/>
          </a:prstGeom>
          <a:noFill/>
          <a:ln/>
        </p:spPr>
        <p:txBody>
          <a:bodyPr wrap="square" rtlCol="0" anchor="t"/>
          <a:lstStyle/>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The SAME dollars, into one engine</a:t>
            </a:r>
            <a:endParaRPr lang="en-US" sz="1450" dirty="0"/>
          </a:p>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Every dollar feeds booked assessments</a:t>
            </a:r>
            <a:endParaRPr lang="en-US" sz="1450" dirty="0"/>
          </a:p>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Measured weekly — we cut what doesn't work</a:t>
            </a:r>
            <a:endParaRPr lang="en-US" sz="1450" dirty="0"/>
          </a:p>
          <a:p>
            <a:pPr marL="342900" indent="-342900">
              <a:lnSpc>
                <a:spcPct val="115000"/>
              </a:lnSpc>
              <a:buSzPct val="100000"/>
              <a:buChar char="•"/>
            </a:pPr>
            <a:r>
              <a:rPr lang="en-US" sz="1450" dirty="0">
                <a:solidFill>
                  <a:srgbClr val="1E293B"/>
                </a:solidFill>
                <a:latin typeface="Calibri" pitchFamily="34" charset="0"/>
                <a:ea typeface="Calibri" pitchFamily="34" charset="-122"/>
                <a:cs typeface="Calibri" pitchFamily="34" charset="-120"/>
              </a:rPr>
              <a:t>Compounds as the system runs</a:t>
            </a:r>
            <a:endParaRPr lang="en-US" sz="1450" dirty="0"/>
          </a:p>
        </p:txBody>
      </p:sp>
      <p:sp>
        <p:nvSpPr>
          <p:cNvPr id="13" name="Shape 11"/>
          <p:cNvSpPr/>
          <p:nvPr/>
        </p:nvSpPr>
        <p:spPr>
          <a:xfrm>
            <a:off x="640080" y="4663440"/>
            <a:ext cx="10881360" cy="1280160"/>
          </a:xfrm>
          <a:prstGeom prst="rect">
            <a:avLst/>
          </a:prstGeom>
          <a:solidFill>
            <a:srgbClr val="1E2761"/>
          </a:solidFill>
          <a:ln/>
          <a:effectLst>
            <a:outerShdw sx="100000" sy="100000" kx="0" ky="0" algn="bl" rotWithShape="0" blurRad="88900" dist="38100" dir="8100000">
              <a:srgbClr val="000000">
                <a:alpha val="12000"/>
              </a:srgbClr>
            </a:outerShdw>
          </a:effectLst>
        </p:spPr>
      </p:sp>
      <p:sp>
        <p:nvSpPr>
          <p:cNvPr id="14" name="Text 12"/>
          <p:cNvSpPr/>
          <p:nvPr/>
        </p:nvSpPr>
        <p:spPr>
          <a:xfrm>
            <a:off x="914400" y="4773168"/>
            <a:ext cx="10332720" cy="1060704"/>
          </a:xfrm>
          <a:prstGeom prst="rect">
            <a:avLst/>
          </a:prstGeom>
          <a:noFill/>
          <a:ln/>
        </p:spPr>
        <p:txBody>
          <a:bodyPr wrap="square" rtlCol="0" anchor="ctr"/>
          <a:lstStyle/>
          <a:p>
            <a:pPr indent="0" marL="0">
              <a:lnSpc>
                <a:spcPct val="110000"/>
              </a:lnSpc>
              <a:buNone/>
            </a:pPr>
            <a:r>
              <a:rPr lang="en-US" sz="1500" b="1" dirty="0">
                <a:solidFill>
                  <a:srgbClr val="02C39A"/>
                </a:solidFill>
                <a:latin typeface="Calibri" pitchFamily="34" charset="0"/>
                <a:ea typeface="Calibri" pitchFamily="34" charset="-122"/>
                <a:cs typeface="Calibri" pitchFamily="34" charset="-120"/>
              </a:rPr>
              <a:t>Then we automate — and the cost curve bends down.  </a:t>
            </a:r>
            <a:pPr indent="0" marL="0">
              <a:lnSpc>
                <a:spcPct val="110000"/>
              </a:lnSpc>
              <a:buNone/>
            </a:pPr>
            <a:r>
              <a:rPr lang="en-US" sz="1500" dirty="0">
                <a:solidFill>
                  <a:srgbClr val="CADCFC"/>
                </a:solidFill>
                <a:latin typeface="Calibri" pitchFamily="34" charset="0"/>
                <a:ea typeface="Calibri" pitchFamily="34" charset="-122"/>
                <a:cs typeface="Calibri" pitchFamily="34" charset="-120"/>
              </a:rPr>
              <a:t>Phase 1: automate marketing (HubSpot does the repetitive work). Phase 2: automate everything we can. Over time, cost per lead and per client falls — the system gets cheaper to run as automation replaces manual effort.</a:t>
            </a:r>
            <a:endParaRPr lang="en-US" sz="1500" dirty="0"/>
          </a:p>
        </p:txBody>
      </p:sp>
      <p:sp>
        <p:nvSpPr>
          <p:cNvPr id="15" name="Text 13"/>
          <p:cNvSpPr/>
          <p:nvPr/>
        </p:nvSpPr>
        <p:spPr>
          <a:xfrm>
            <a:off x="640080" y="6080760"/>
            <a:ext cx="10881360" cy="411480"/>
          </a:xfrm>
          <a:prstGeom prst="rect">
            <a:avLst/>
          </a:prstGeom>
          <a:noFill/>
          <a:ln/>
        </p:spPr>
        <p:txBody>
          <a:bodyPr wrap="square"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ROI check: one managed-services client typically covers a year of the tooling many times over. (Plug in our current spend to confirm.)</a:t>
            </a:r>
            <a:endParaRPr lang="en-US" sz="1250" dirty="0"/>
          </a:p>
        </p:txBody>
      </p:sp>
      <p:sp>
        <p:nvSpPr>
          <p:cNvPr id="16" name="Text 14"/>
          <p:cNvSpPr/>
          <p:nvPr/>
        </p:nvSpPr>
        <p:spPr>
          <a:xfrm>
            <a:off x="640080" y="6400800"/>
            <a:ext cx="4572000" cy="27432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SafePoint IT</a:t>
            </a:r>
            <a:endParaRPr lang="en-US" sz="1000" dirty="0"/>
          </a:p>
        </p:txBody>
      </p:sp>
      <p:sp>
        <p:nvSpPr>
          <p:cNvPr id="17" name="Text 15"/>
          <p:cNvSpPr/>
          <p:nvPr/>
        </p:nvSpPr>
        <p:spPr>
          <a:xfrm>
            <a:off x="11338560" y="6400800"/>
            <a:ext cx="457200" cy="274320"/>
          </a:xfrm>
          <a:prstGeom prst="rect">
            <a:avLst/>
          </a:prstGeom>
          <a:noFill/>
          <a:ln/>
        </p:spPr>
        <p:txBody>
          <a:bodyPr wrap="square" rtlCol="0" anchor="ctr"/>
          <a:lstStyle/>
          <a:p>
            <a:pPr algn="r" indent="0" marL="0">
              <a:buNone/>
            </a:pPr>
            <a:r>
              <a:rPr lang="en-US" sz="1000" dirty="0">
                <a:solidFill>
                  <a:srgbClr val="64748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2C39A"/>
          </a:solidFill>
          <a:ln/>
        </p:spPr>
      </p:sp>
      <p:sp>
        <p:nvSpPr>
          <p:cNvPr id="3" name="Text 1"/>
          <p:cNvSpPr/>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THE ASK</a:t>
            </a:r>
            <a:endParaRPr lang="en-US" sz="1300" dirty="0"/>
          </a:p>
        </p:txBody>
      </p:sp>
      <p:sp>
        <p:nvSpPr>
          <p:cNvPr id="4" name="Text 2"/>
          <p:cNvSpPr/>
          <p:nvPr/>
        </p:nvSpPr>
        <p:spPr>
          <a:xfrm>
            <a:off x="822960" y="1554480"/>
            <a:ext cx="10515600" cy="914400"/>
          </a:xfrm>
          <a:prstGeom prst="rect">
            <a:avLst/>
          </a:prstGeom>
          <a:noFill/>
          <a:ln/>
        </p:spPr>
        <p:txBody>
          <a:bodyPr wrap="square" rtlCol="0" anchor="ctr"/>
          <a:lstStyle/>
          <a:p>
            <a:pPr indent="0" marL="0">
              <a:buNone/>
            </a:pPr>
            <a:r>
              <a:rPr lang="en-US" sz="3800" b="1" dirty="0">
                <a:solidFill>
                  <a:srgbClr val="FFFFFF"/>
                </a:solidFill>
                <a:latin typeface="Georgia" pitchFamily="34" charset="0"/>
                <a:ea typeface="Georgia" pitchFamily="34" charset="-122"/>
                <a:cs typeface="Georgia" pitchFamily="34" charset="-120"/>
              </a:rPr>
              <a:t>Let's turn the proven system on.</a:t>
            </a:r>
            <a:endParaRPr lang="en-US" sz="3800" dirty="0"/>
          </a:p>
        </p:txBody>
      </p:sp>
      <p:sp>
        <p:nvSpPr>
          <p:cNvPr id="5" name="Text 3"/>
          <p:cNvSpPr/>
          <p:nvPr/>
        </p:nvSpPr>
        <p:spPr>
          <a:xfrm>
            <a:off x="841248" y="2651760"/>
            <a:ext cx="10058400" cy="1280160"/>
          </a:xfrm>
          <a:prstGeom prst="rect">
            <a:avLst/>
          </a:prstGeom>
          <a:noFill/>
          <a:ln/>
        </p:spPr>
        <p:txBody>
          <a:bodyPr wrap="square" rtlCol="0" anchor="ctr"/>
          <a:lstStyle/>
          <a:p>
            <a:pPr indent="0" marL="0">
              <a:lnSpc>
                <a:spcPct val="130000"/>
              </a:lnSpc>
              <a:buNone/>
            </a:pPr>
            <a:r>
              <a:rPr lang="en-US" sz="1900" dirty="0">
                <a:solidFill>
                  <a:srgbClr val="CADCFC"/>
                </a:solidFill>
                <a:latin typeface="Calibri" pitchFamily="34" charset="0"/>
                <a:ea typeface="Calibri" pitchFamily="34" charset="-122"/>
                <a:cs typeface="Calibri" pitchFamily="34" charset="-120"/>
              </a:rPr>
              <a:t>We have the expertise, the assets, and the plan.</a:t>
            </a:r>
            <a:endParaRPr lang="en-US" sz="1900" dirty="0"/>
          </a:p>
          <a:p>
            <a:pPr indent="0" marL="0">
              <a:lnSpc>
                <a:spcPct val="130000"/>
              </a:lnSpc>
              <a:buNone/>
            </a:pPr>
            <a:r>
              <a:rPr lang="en-US" sz="1900" dirty="0">
                <a:solidFill>
                  <a:srgbClr val="CADCFC"/>
                </a:solidFill>
                <a:latin typeface="Calibri" pitchFamily="34" charset="0"/>
                <a:ea typeface="Calibri" pitchFamily="34" charset="-122"/>
                <a:cs typeface="Calibri" pitchFamily="34" charset="-120"/>
              </a:rPr>
              <a:t>What we're asking: the green light + the team's time to execute the 90-day rollout, aimed at 3–5 booked assessments a month.</a:t>
            </a:r>
            <a:endParaRPr lang="en-US" sz="1900" dirty="0"/>
          </a:p>
        </p:txBody>
      </p:sp>
      <p:sp>
        <p:nvSpPr>
          <p:cNvPr id="6" name="Text 4"/>
          <p:cNvSpPr/>
          <p:nvPr/>
        </p:nvSpPr>
        <p:spPr>
          <a:xfrm>
            <a:off x="841248" y="4206240"/>
            <a:ext cx="10058400" cy="548640"/>
          </a:xfrm>
          <a:prstGeom prst="rect">
            <a:avLst/>
          </a:prstGeom>
          <a:noFill/>
          <a:ln/>
        </p:spPr>
        <p:txBody>
          <a:bodyPr wrap="square" rtlCol="0" anchor="ctr"/>
          <a:lstStyle/>
          <a:p>
            <a:pPr indent="0" marL="0">
              <a:buNone/>
            </a:pPr>
            <a:r>
              <a:rPr lang="en-US" sz="2200" b="1" dirty="0">
                <a:solidFill>
                  <a:srgbClr val="02C39A"/>
                </a:solidFill>
                <a:latin typeface="Georgia" pitchFamily="34" charset="0"/>
                <a:ea typeface="Georgia" pitchFamily="34" charset="-122"/>
                <a:cs typeface="Georgia" pitchFamily="34" charset="-120"/>
              </a:rPr>
              <a:t>One team. One proven system. One number.</a:t>
            </a:r>
            <a:endParaRPr lang="en-US" sz="2200" dirty="0"/>
          </a:p>
        </p:txBody>
      </p:sp>
      <p:sp>
        <p:nvSpPr>
          <p:cNvPr id="7" name="Text 5"/>
          <p:cNvSpPr/>
          <p:nvPr/>
        </p:nvSpPr>
        <p:spPr>
          <a:xfrm>
            <a:off x="841248" y="5120640"/>
            <a:ext cx="10058400" cy="365760"/>
          </a:xfrm>
          <a:prstGeom prst="rect">
            <a:avLst/>
          </a:prstGeom>
          <a:noFill/>
          <a:ln/>
        </p:spPr>
        <p:txBody>
          <a:bodyPr wrap="square" rtlCol="0" anchor="ctr"/>
          <a:lstStyle/>
          <a:p>
            <a:pPr indent="0" marL="0">
              <a:buNone/>
            </a:pPr>
            <a:r>
              <a:rPr lang="en-US" sz="1500" dirty="0">
                <a:solidFill>
                  <a:srgbClr val="9FB3D9"/>
                </a:solidFill>
                <a:latin typeface="Calibri" pitchFamily="34" charset="0"/>
                <a:ea typeface="Calibri" pitchFamily="34" charset="-122"/>
                <a:cs typeface="Calibri" pitchFamily="34" charset="-120"/>
              </a:rPr>
              <a:t>SafePoint IT  ·  safepointit.com  ·  (847) 499-1500</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SafePoint Marketing Action Plan</dc:title>
  <dc:subject>PptxGenJS Presentation</dc:subject>
  <dc:creator>SafePoint IT</dc:creator>
  <cp:lastModifiedBy>SafePoint IT</cp:lastModifiedBy>
  <cp:revision>1</cp:revision>
  <dcterms:created xsi:type="dcterms:W3CDTF">2026-06-11T18:54:07Z</dcterms:created>
  <dcterms:modified xsi:type="dcterms:W3CDTF">2026-06-11T18:54:07Z</dcterms:modified>
</cp:coreProperties>
</file>